
<file path=[Content_Types].xml><?xml version="1.0" encoding="utf-8"?>
<Types xmlns="http://schemas.openxmlformats.org/package/2006/content-types">
  <Default Extension="jpeg" ContentType="image/jpeg"/>
  <Default Extension="jpg" ContentType="image/unknown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8.jpg" ContentType="image/jpeg"/>
  <Override PartName="/ppt/media/image9.jpg" ContentType="image/jpeg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6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media/image19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Book1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E:\data%20(5).csv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Ex1.xml.rels><?xml version="1.0" encoding="UTF-8" standalone="yes"?>
<Relationships xmlns="http://schemas.openxmlformats.org/package/2006/relationships"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/>
              <a:t>strike_rate </a:t>
            </a:r>
          </a:p>
        </c:rich>
      </c:tx>
      <c:layout>
        <c:manualLayout>
          <c:xMode val="edge"/>
          <c:yMode val="edge"/>
          <c:x val="0.41631402206344081"/>
          <c:y val="0.16745889056576538"/>
        </c:manualLayout>
      </c:layout>
      <c:overlay val="0"/>
      <c:spPr>
        <a:blipFill>
          <a:blip xmlns:r="http://schemas.openxmlformats.org/officeDocument/2006/relationships" r:embed="rId3"/>
          <a:tile tx="0" ty="0" sx="100000" sy="100000" flip="none" algn="tl"/>
        </a:blip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strike_rate 8 numeric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  <a:sp3d/>
          </c:spPr>
          <c:invertIfNegative val="0"/>
          <c:cat>
            <c:multiLvlStrRef>
              <c:f>Sheet1!$A$2:$B$11</c:f>
              <c:multiLvlStrCache>
                <c:ptCount val="10"/>
                <c:lvl>
                  <c:pt idx="0">
                    <c:v>AD Russell</c:v>
                  </c:pt>
                  <c:pt idx="1">
                    <c:v>SP Narine</c:v>
                  </c:pt>
                  <c:pt idx="2">
                    <c:v>HH Pandya</c:v>
                  </c:pt>
                  <c:pt idx="3">
                    <c:v>V Sehwag</c:v>
                  </c:pt>
                  <c:pt idx="4">
                    <c:v>GJ Maxwell</c:v>
                  </c:pt>
                  <c:pt idx="5">
                    <c:v>RR Pant</c:v>
                  </c:pt>
                  <c:pt idx="6">
                    <c:v>AB de Villiers</c:v>
                  </c:pt>
                  <c:pt idx="7">
                    <c:v>KA Pollard</c:v>
                  </c:pt>
                  <c:pt idx="8">
                    <c:v>CH Gayle</c:v>
                  </c:pt>
                  <c:pt idx="9">
                    <c:v>JC Buttler</c:v>
                  </c:pt>
                </c:lvl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185.15</c:v>
                </c:pt>
                <c:pt idx="1">
                  <c:v>170.5</c:v>
                </c:pt>
                <c:pt idx="2">
                  <c:v>162.59</c:v>
                </c:pt>
                <c:pt idx="3">
                  <c:v>160.44</c:v>
                </c:pt>
                <c:pt idx="4">
                  <c:v>160.28</c:v>
                </c:pt>
                <c:pt idx="5">
                  <c:v>154.25</c:v>
                </c:pt>
                <c:pt idx="6">
                  <c:v>154.01</c:v>
                </c:pt>
                <c:pt idx="7">
                  <c:v>153.16999999999999</c:v>
                </c:pt>
                <c:pt idx="8">
                  <c:v>153.11000000000001</c:v>
                </c:pt>
                <c:pt idx="9">
                  <c:v>152.86000000000001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A4-4350-A82A-C9F87C6A6E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962409408"/>
        <c:axId val="962399808"/>
        <c:axId val="595013344"/>
      </c:bar3DChart>
      <c:catAx>
        <c:axId val="962409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1" u="sng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2399808"/>
        <c:crosses val="autoZero"/>
        <c:auto val="1"/>
        <c:lblAlgn val="ctr"/>
        <c:lblOffset val="100"/>
        <c:noMultiLvlLbl val="0"/>
      </c:catAx>
      <c:valAx>
        <c:axId val="962399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2409408"/>
        <c:crosses val="autoZero"/>
        <c:crossBetween val="between"/>
      </c:valAx>
      <c:serAx>
        <c:axId val="59501334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2399808"/>
        <c:crosses val="autoZero"/>
      </c:ser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>
      <a:gsLst>
        <a:gs pos="0">
          <a:schemeClr val="accent1">
            <a:lumMod val="5000"/>
            <a:lumOff val="95000"/>
          </a:schemeClr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'data (1)'!$B$4</c:f>
              <c:strCache>
                <c:ptCount val="1"/>
                <c:pt idx="0">
                  <c:v>totaL_runs o numoric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'data (1)'!$A$5:$A$14</c:f>
              <c:strCache>
                <c:ptCount val="10"/>
                <c:pt idx="0">
                  <c:v>labol Abdulla</c:v>
                </c:pt>
                <c:pt idx="1">
                  <c:v>KL Rahul</c:v>
                </c:pt>
                <c:pt idx="2">
                  <c:v>AB do Villion</c:v>
                </c:pt>
                <c:pt idx="3">
                  <c:v>ML Hayden</c:v>
                </c:pt>
                <c:pt idx="4">
                  <c:v>DA Worner</c:v>
                </c:pt>
                <c:pt idx="5">
                  <c:v>JP Duminty</c:v>
                </c:pt>
                <c:pt idx="6">
                  <c:v>CH Gayle</c:v>
                </c:pt>
                <c:pt idx="7">
                  <c:v>LMP.Simmono</c:v>
                </c:pt>
                <c:pt idx="8">
                  <c:v>KS Williamson</c:v>
                </c:pt>
                <c:pt idx="9">
                  <c:v>A Symonds</c:v>
                </c:pt>
              </c:strCache>
            </c:strRef>
          </c:cat>
          <c:val>
            <c:numRef>
              <c:f>'data (1)'!$B$5:$B$14</c:f>
              <c:numCache>
                <c:formatCode>General</c:formatCode>
                <c:ptCount val="10"/>
                <c:pt idx="0">
                  <c:v>87</c:v>
                </c:pt>
                <c:pt idx="1">
                  <c:v>2645</c:v>
                </c:pt>
                <c:pt idx="2">
                  <c:v>4816</c:v>
                </c:pt>
                <c:pt idx="3">
                  <c:v>1090</c:v>
                </c:pt>
                <c:pt idx="4">
                  <c:v>5224</c:v>
                </c:pt>
                <c:pt idx="5">
                  <c:v>2026</c:v>
                </c:pt>
                <c:pt idx="6">
                  <c:v>4701</c:v>
                </c:pt>
                <c:pt idx="7">
                  <c:v>1079</c:v>
                </c:pt>
                <c:pt idx="8">
                  <c:v>1010</c:v>
                </c:pt>
                <c:pt idx="9">
                  <c:v>973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42-4CFB-AD12-33661F5C225C}"/>
            </c:ext>
          </c:extLst>
        </c:ser>
        <c:ser>
          <c:idx val="1"/>
          <c:order val="1"/>
          <c:tx>
            <c:strRef>
              <c:f>'data (1)'!$C$4</c:f>
              <c:strCache>
                <c:ptCount val="1"/>
                <c:pt idx="0">
                  <c:v>total_dis
bigint 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'data (1)'!$A$5:$A$14</c:f>
              <c:strCache>
                <c:ptCount val="10"/>
                <c:pt idx="0">
                  <c:v>labol Abdulla</c:v>
                </c:pt>
                <c:pt idx="1">
                  <c:v>KL Rahul</c:v>
                </c:pt>
                <c:pt idx="2">
                  <c:v>AB do Villion</c:v>
                </c:pt>
                <c:pt idx="3">
                  <c:v>ML Hayden</c:v>
                </c:pt>
                <c:pt idx="4">
                  <c:v>DA Worner</c:v>
                </c:pt>
                <c:pt idx="5">
                  <c:v>JP Duminty</c:v>
                </c:pt>
                <c:pt idx="6">
                  <c:v>CH Gayle</c:v>
                </c:pt>
                <c:pt idx="7">
                  <c:v>LMP.Simmono</c:v>
                </c:pt>
                <c:pt idx="8">
                  <c:v>KS Williamson</c:v>
                </c:pt>
                <c:pt idx="9">
                  <c:v>A Symonds</c:v>
                </c:pt>
              </c:strCache>
            </c:strRef>
          </c:cat>
          <c:val>
            <c:numRef>
              <c:f>'data (1)'!$C$5:$C$14</c:f>
              <c:numCache>
                <c:formatCode>General</c:formatCode>
                <c:ptCount val="10"/>
                <c:pt idx="0">
                  <c:v>1</c:v>
                </c:pt>
                <c:pt idx="1">
                  <c:v>62</c:v>
                </c:pt>
                <c:pt idx="2">
                  <c:v>114</c:v>
                </c:pt>
                <c:pt idx="3">
                  <c:v>26</c:v>
                </c:pt>
                <c:pt idx="4">
                  <c:v>126</c:v>
                </c:pt>
                <c:pt idx="5">
                  <c:v>49</c:v>
                </c:pt>
                <c:pt idx="6">
                  <c:v>115</c:v>
                </c:pt>
                <c:pt idx="7">
                  <c:v>27</c:v>
                </c:pt>
                <c:pt idx="8">
                  <c:v>41</c:v>
                </c:pt>
                <c:pt idx="9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42-4CFB-AD12-33661F5C225C}"/>
            </c:ext>
          </c:extLst>
        </c:ser>
        <c:ser>
          <c:idx val="2"/>
          <c:order val="2"/>
          <c:tx>
            <c:strRef>
              <c:f>'data (1)'!$D$4</c:f>
              <c:strCache>
                <c:ptCount val="1"/>
                <c:pt idx="0">
                  <c:v>cossons_played
blgint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'data (1)'!$A$5:$A$14</c:f>
              <c:strCache>
                <c:ptCount val="10"/>
                <c:pt idx="0">
                  <c:v>labol Abdulla</c:v>
                </c:pt>
                <c:pt idx="1">
                  <c:v>KL Rahul</c:v>
                </c:pt>
                <c:pt idx="2">
                  <c:v>AB do Villion</c:v>
                </c:pt>
                <c:pt idx="3">
                  <c:v>ML Hayden</c:v>
                </c:pt>
                <c:pt idx="4">
                  <c:v>DA Worner</c:v>
                </c:pt>
                <c:pt idx="5">
                  <c:v>JP Duminty</c:v>
                </c:pt>
                <c:pt idx="6">
                  <c:v>CH Gayle</c:v>
                </c:pt>
                <c:pt idx="7">
                  <c:v>LMP.Simmono</c:v>
                </c:pt>
                <c:pt idx="8">
                  <c:v>KS Williamson</c:v>
                </c:pt>
                <c:pt idx="9">
                  <c:v>A Symonds</c:v>
                </c:pt>
              </c:strCache>
            </c:strRef>
          </c:cat>
          <c:val>
            <c:numRef>
              <c:f>'data (1)'!$D$5:$D$14</c:f>
              <c:numCache>
                <c:formatCode>General</c:formatCode>
                <c:ptCount val="10"/>
                <c:pt idx="0">
                  <c:v>7</c:v>
                </c:pt>
                <c:pt idx="1">
                  <c:v>0</c:v>
                </c:pt>
                <c:pt idx="2">
                  <c:v>13</c:v>
                </c:pt>
                <c:pt idx="3">
                  <c:v>3</c:v>
                </c:pt>
                <c:pt idx="4">
                  <c:v>11</c:v>
                </c:pt>
                <c:pt idx="5">
                  <c:v>8</c:v>
                </c:pt>
                <c:pt idx="6">
                  <c:v>12</c:v>
                </c:pt>
                <c:pt idx="7">
                  <c:v>4</c:v>
                </c:pt>
                <c:pt idx="8">
                  <c:v>6</c:v>
                </c:pt>
                <c:pt idx="9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F42-4CFB-AD12-33661F5C225C}"/>
            </c:ext>
          </c:extLst>
        </c:ser>
        <c:ser>
          <c:idx val="3"/>
          <c:order val="3"/>
          <c:tx>
            <c:strRef>
              <c:f>'data (1)'!$E$4</c:f>
              <c:strCache>
                <c:ptCount val="1"/>
                <c:pt idx="0">
                  <c:v>bateman_average a numeric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'data (1)'!$A$5:$A$14</c:f>
              <c:strCache>
                <c:ptCount val="10"/>
                <c:pt idx="0">
                  <c:v>labol Abdulla</c:v>
                </c:pt>
                <c:pt idx="1">
                  <c:v>KL Rahul</c:v>
                </c:pt>
                <c:pt idx="2">
                  <c:v>AB do Villion</c:v>
                </c:pt>
                <c:pt idx="3">
                  <c:v>ML Hayden</c:v>
                </c:pt>
                <c:pt idx="4">
                  <c:v>DA Worner</c:v>
                </c:pt>
                <c:pt idx="5">
                  <c:v>JP Duminty</c:v>
                </c:pt>
                <c:pt idx="6">
                  <c:v>CH Gayle</c:v>
                </c:pt>
                <c:pt idx="7">
                  <c:v>LMP.Simmono</c:v>
                </c:pt>
                <c:pt idx="8">
                  <c:v>KS Williamson</c:v>
                </c:pt>
                <c:pt idx="9">
                  <c:v>A Symonds</c:v>
                </c:pt>
              </c:strCache>
            </c:strRef>
          </c:cat>
          <c:val>
            <c:numRef>
              <c:f>'data (1)'!$E$5:$E$14</c:f>
              <c:numCache>
                <c:formatCode>General</c:formatCode>
                <c:ptCount val="10"/>
                <c:pt idx="0">
                  <c:v>87</c:v>
                </c:pt>
                <c:pt idx="1">
                  <c:v>42.66</c:v>
                </c:pt>
                <c:pt idx="2">
                  <c:v>42.25</c:v>
                </c:pt>
                <c:pt idx="3">
                  <c:v>42.15</c:v>
                </c:pt>
                <c:pt idx="4">
                  <c:v>41.46</c:v>
                </c:pt>
                <c:pt idx="5">
                  <c:v>4136</c:v>
                </c:pt>
                <c:pt idx="6">
                  <c:v>41.14</c:v>
                </c:pt>
                <c:pt idx="7">
                  <c:v>39.06</c:v>
                </c:pt>
                <c:pt idx="8">
                  <c:v>30.41</c:v>
                </c:pt>
                <c:pt idx="9">
                  <c:v>30.92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F42-4CFB-AD12-33661F5C22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66247040"/>
        <c:axId val="1666269600"/>
        <c:extLst>
          <c:ext xmlns:c15="http://schemas.microsoft.com/office/drawing/2012/chart" uri="{02D57815-91ED-43cb-92C2-25804820EDAC}">
            <c15:filteredBarSeries>
              <c15:ser>
                <c:idx val="4"/>
                <c:order val="4"/>
                <c:tx>
                  <c:strRef>
                    <c:extLst>
                      <c:ext uri="{02D57815-91ED-43cb-92C2-25804820EDAC}">
                        <c15:formulaRef>
                          <c15:sqref>'data (1)'!$F$4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5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'data (1)'!$A$5:$A$14</c15:sqref>
                        </c15:formulaRef>
                      </c:ext>
                    </c:extLst>
                    <c:strCache>
                      <c:ptCount val="10"/>
                      <c:pt idx="0">
                        <c:v>labol Abdulla</c:v>
                      </c:pt>
                      <c:pt idx="1">
                        <c:v>KL Rahul</c:v>
                      </c:pt>
                      <c:pt idx="2">
                        <c:v>AB do Villion</c:v>
                      </c:pt>
                      <c:pt idx="3">
                        <c:v>ML Hayden</c:v>
                      </c:pt>
                      <c:pt idx="4">
                        <c:v>DA Worner</c:v>
                      </c:pt>
                      <c:pt idx="5">
                        <c:v>JP Duminty</c:v>
                      </c:pt>
                      <c:pt idx="6">
                        <c:v>CH Gayle</c:v>
                      </c:pt>
                      <c:pt idx="7">
                        <c:v>LMP.Simmono</c:v>
                      </c:pt>
                      <c:pt idx="8">
                        <c:v>KS Williamson</c:v>
                      </c:pt>
                      <c:pt idx="9">
                        <c:v>A Symonds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'data (1)'!$F$5:$F$14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4-9F42-4CFB-AD12-33661F5C225C}"/>
                  </c:ext>
                </c:extLst>
              </c15:ser>
            </c15:filteredBarSeries>
          </c:ext>
        </c:extLst>
      </c:barChart>
      <c:catAx>
        <c:axId val="1666247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6269600"/>
        <c:crosses val="autoZero"/>
        <c:auto val="1"/>
        <c:lblAlgn val="ctr"/>
        <c:lblOffset val="100"/>
        <c:noMultiLvlLbl val="0"/>
      </c:catAx>
      <c:valAx>
        <c:axId val="16662696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62470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 b="1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'data (4)'!$C$4</c:f>
              <c:strCache>
                <c:ptCount val="1"/>
                <c:pt idx="0">
                  <c:v>seasons_played 8 bigint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'data (4)'!$B$5:$B$14</c:f>
              <c:strCache>
                <c:ptCount val="10"/>
                <c:pt idx="0">
                  <c:v>SP Narine</c:v>
                </c:pt>
                <c:pt idx="1">
                  <c:v>AD Russell</c:v>
                </c:pt>
                <c:pt idx="2">
                  <c:v>CH Gayle</c:v>
                </c:pt>
                <c:pt idx="3">
                  <c:v>CR Brathwaite</c:v>
                </c:pt>
                <c:pt idx="4">
                  <c:v>ST Jayasuriya</c:v>
                </c:pt>
                <c:pt idx="5">
                  <c:v>MJ McClenaghan</c:v>
                </c:pt>
                <c:pt idx="6">
                  <c:v>BCJ Cutting</c:v>
                </c:pt>
                <c:pt idx="7">
                  <c:v>KK Cooper</c:v>
                </c:pt>
                <c:pt idx="8">
                  <c:v>AC Gilchrist</c:v>
                </c:pt>
                <c:pt idx="9">
                  <c:v>MS Gony</c:v>
                </c:pt>
              </c:strCache>
            </c:strRef>
          </c:cat>
          <c:val>
            <c:numRef>
              <c:f>'data (4)'!$C$5:$C$14</c:f>
              <c:numCache>
                <c:formatCode>General</c:formatCode>
                <c:ptCount val="10"/>
                <c:pt idx="0">
                  <c:v>8</c:v>
                </c:pt>
                <c:pt idx="1">
                  <c:v>8</c:v>
                </c:pt>
                <c:pt idx="2">
                  <c:v>12</c:v>
                </c:pt>
                <c:pt idx="3">
                  <c:v>4</c:v>
                </c:pt>
                <c:pt idx="4">
                  <c:v>3</c:v>
                </c:pt>
                <c:pt idx="5">
                  <c:v>5</c:v>
                </c:pt>
                <c:pt idx="6">
                  <c:v>5</c:v>
                </c:pt>
                <c:pt idx="7">
                  <c:v>3</c:v>
                </c:pt>
                <c:pt idx="8">
                  <c:v>6</c:v>
                </c:pt>
                <c:pt idx="9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22-4544-BED0-68574741B496}"/>
            </c:ext>
          </c:extLst>
        </c:ser>
        <c:ser>
          <c:idx val="1"/>
          <c:order val="1"/>
          <c:tx>
            <c:strRef>
              <c:f>'data (4)'!$D$4</c:f>
              <c:strCache>
                <c:ptCount val="1"/>
                <c:pt idx="0">
                  <c:v>boundary_runs
numeric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'data (4)'!$B$5:$B$14</c:f>
              <c:strCache>
                <c:ptCount val="10"/>
                <c:pt idx="0">
                  <c:v>SP Narine</c:v>
                </c:pt>
                <c:pt idx="1">
                  <c:v>AD Russell</c:v>
                </c:pt>
                <c:pt idx="2">
                  <c:v>CH Gayle</c:v>
                </c:pt>
                <c:pt idx="3">
                  <c:v>CR Brathwaite</c:v>
                </c:pt>
                <c:pt idx="4">
                  <c:v>ST Jayasuriya</c:v>
                </c:pt>
                <c:pt idx="5">
                  <c:v>MJ McClenaghan</c:v>
                </c:pt>
                <c:pt idx="6">
                  <c:v>BCJ Cutting</c:v>
                </c:pt>
                <c:pt idx="7">
                  <c:v>KK Cooper</c:v>
                </c:pt>
                <c:pt idx="8">
                  <c:v>AC Gilchrist</c:v>
                </c:pt>
                <c:pt idx="9">
                  <c:v>MS Gony</c:v>
                </c:pt>
              </c:strCache>
            </c:strRef>
          </c:cat>
          <c:val>
            <c:numRef>
              <c:f>'data (4)'!$D$5:$D$14</c:f>
              <c:numCache>
                <c:formatCode>General</c:formatCode>
                <c:ptCount val="10"/>
                <c:pt idx="0">
                  <c:v>724</c:v>
                </c:pt>
                <c:pt idx="1">
                  <c:v>1188</c:v>
                </c:pt>
                <c:pt idx="2">
                  <c:v>3596</c:v>
                </c:pt>
                <c:pt idx="3">
                  <c:v>136</c:v>
                </c:pt>
                <c:pt idx="4">
                  <c:v>564</c:v>
                </c:pt>
                <c:pt idx="5">
                  <c:v>62</c:v>
                </c:pt>
                <c:pt idx="6">
                  <c:v>174</c:v>
                </c:pt>
                <c:pt idx="7">
                  <c:v>84</c:v>
                </c:pt>
                <c:pt idx="8">
                  <c:v>1488</c:v>
                </c:pt>
                <c:pt idx="9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22-4544-BED0-68574741B496}"/>
            </c:ext>
          </c:extLst>
        </c:ser>
        <c:ser>
          <c:idx val="2"/>
          <c:order val="2"/>
          <c:tx>
            <c:strRef>
              <c:f>'data (4)'!$E$4</c:f>
              <c:strCache>
                <c:ptCount val="1"/>
                <c:pt idx="0">
                  <c:v>boundary_percent 8 numeric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'data (4)'!$B$5:$B$14</c:f>
              <c:strCache>
                <c:ptCount val="10"/>
                <c:pt idx="0">
                  <c:v>SP Narine</c:v>
                </c:pt>
                <c:pt idx="1">
                  <c:v>AD Russell</c:v>
                </c:pt>
                <c:pt idx="2">
                  <c:v>CH Gayle</c:v>
                </c:pt>
                <c:pt idx="3">
                  <c:v>CR Brathwaite</c:v>
                </c:pt>
                <c:pt idx="4">
                  <c:v>ST Jayasuriya</c:v>
                </c:pt>
                <c:pt idx="5">
                  <c:v>MJ McClenaghan</c:v>
                </c:pt>
                <c:pt idx="6">
                  <c:v>BCJ Cutting</c:v>
                </c:pt>
                <c:pt idx="7">
                  <c:v>KK Cooper</c:v>
                </c:pt>
                <c:pt idx="8">
                  <c:v>AC Gilchrist</c:v>
                </c:pt>
                <c:pt idx="9">
                  <c:v>MS Gony</c:v>
                </c:pt>
              </c:strCache>
            </c:strRef>
          </c:cat>
          <c:val>
            <c:numRef>
              <c:f>'data (4)'!$E$5:$E$14</c:f>
              <c:numCache>
                <c:formatCode>General</c:formatCode>
                <c:ptCount val="10"/>
                <c:pt idx="0">
                  <c:v>81.348314606741496</c:v>
                </c:pt>
                <c:pt idx="1">
                  <c:v>78.727634194830998</c:v>
                </c:pt>
                <c:pt idx="2">
                  <c:v>76.009300359332002</c:v>
                </c:pt>
                <c:pt idx="3" formatCode="#,##0">
                  <c:v>7.5555555555555504E+21</c:v>
                </c:pt>
                <c:pt idx="4">
                  <c:v>74.210526315789394</c:v>
                </c:pt>
                <c:pt idx="5">
                  <c:v>73.809523809523796</c:v>
                </c:pt>
                <c:pt idx="6">
                  <c:v>73.109243697478902</c:v>
                </c:pt>
                <c:pt idx="7">
                  <c:v>73.043478260869506</c:v>
                </c:pt>
                <c:pt idx="8" formatCode="0.00E+00">
                  <c:v>7.2727272727272699E+21</c:v>
                </c:pt>
                <c:pt idx="9">
                  <c:v>72.727272727272705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B22-4544-BED0-68574741B4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03700448"/>
        <c:axId val="1203682208"/>
      </c:barChart>
      <c:catAx>
        <c:axId val="1203700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1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3682208"/>
        <c:crosses val="autoZero"/>
        <c:auto val="1"/>
        <c:lblAlgn val="ctr"/>
        <c:lblOffset val="100"/>
        <c:noMultiLvlLbl val="0"/>
      </c:catAx>
      <c:valAx>
        <c:axId val="12036822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3700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'data (2)'!$C$4</c:f>
              <c:strCache>
                <c:ptCount val="1"/>
                <c:pt idx="0">
                  <c:v>economy a numeric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multiLvlStrRef>
              <c:f>'data (2)'!$A$5:$B$14</c:f>
              <c:multiLvlStrCache>
                <c:ptCount val="10"/>
                <c:lvl>
                  <c:pt idx="0">
                    <c:v>Rashid Khan</c:v>
                  </c:pt>
                  <c:pt idx="1">
                    <c:v>A Kumble</c:v>
                  </c:pt>
                  <c:pt idx="2">
                    <c:v>M Muralitharan</c:v>
                  </c:pt>
                  <c:pt idx="3">
                    <c:v>DW Steyn</c:v>
                  </c:pt>
                  <c:pt idx="4">
                    <c:v>R Ashwin</c:v>
                  </c:pt>
                  <c:pt idx="5">
                    <c:v>SP Narine</c:v>
                  </c:pt>
                  <c:pt idx="6">
                    <c:v>DL Vettori</c:v>
                  </c:pt>
                  <c:pt idx="7">
                    <c:v>Washington Sundar</c:v>
                  </c:pt>
                  <c:pt idx="8">
                    <c:v>J Botha</c:v>
                  </c:pt>
                  <c:pt idx="9">
                    <c:v>R Tewatia</c:v>
                  </c:pt>
                </c:lvl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'data (2)'!$C$5:$C$14</c:f>
              <c:numCache>
                <c:formatCode>General</c:formatCode>
                <c:ptCount val="10"/>
                <c:pt idx="0">
                  <c:v>6.33</c:v>
                </c:pt>
                <c:pt idx="1">
                  <c:v>6.65</c:v>
                </c:pt>
                <c:pt idx="2">
                  <c:v>6.68</c:v>
                </c:pt>
                <c:pt idx="3">
                  <c:v>6.77</c:v>
                </c:pt>
                <c:pt idx="4">
                  <c:v>6.77</c:v>
                </c:pt>
                <c:pt idx="5">
                  <c:v>6.82</c:v>
                </c:pt>
                <c:pt idx="6">
                  <c:v>6.83</c:v>
                </c:pt>
                <c:pt idx="7">
                  <c:v>6.89</c:v>
                </c:pt>
                <c:pt idx="8">
                  <c:v>6.92</c:v>
                </c:pt>
                <c:pt idx="9">
                  <c:v>6.99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53-4476-B25D-06A2C70343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278061392"/>
        <c:axId val="1278051792"/>
      </c:barChart>
      <c:catAx>
        <c:axId val="12780613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8051792"/>
        <c:crosses val="autoZero"/>
        <c:auto val="1"/>
        <c:lblAlgn val="ctr"/>
        <c:lblOffset val="100"/>
        <c:noMultiLvlLbl val="0"/>
      </c:catAx>
      <c:valAx>
        <c:axId val="12780517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8061392"/>
        <c:crosses val="autoZero"/>
        <c:crossBetween val="between"/>
      </c:valAx>
      <c:spPr>
        <a:solidFill>
          <a:schemeClr val="accent3">
            <a:lumMod val="40000"/>
            <a:lumOff val="60000"/>
          </a:schemeClr>
        </a:solidFill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/>
              <a:t>bowler_strike rate
</a:t>
            </a:r>
          </a:p>
        </c:rich>
      </c:tx>
      <c:layout>
        <c:manualLayout>
          <c:xMode val="edge"/>
          <c:yMode val="edge"/>
          <c:x val="0.36894885329940569"/>
          <c:y val="3.212763626861031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'data (5)'!$C$4</c:f>
              <c:strCache>
                <c:ptCount val="1"/>
                <c:pt idx="0">
                  <c:v>bowler_strikerate
bigint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'data (5)'!$B$5:$B$14</c:f>
              <c:strCache>
                <c:ptCount val="10"/>
                <c:pt idx="0">
                  <c:v>K Rabada</c:v>
                </c:pt>
                <c:pt idx="1">
                  <c:v>DE Bollinger</c:v>
                </c:pt>
                <c:pt idx="2">
                  <c:v>AJ Tye</c:v>
                </c:pt>
                <c:pt idx="3">
                  <c:v>MA Starc</c:v>
                </c:pt>
                <c:pt idx="4">
                  <c:v>SL Malinga</c:v>
                </c:pt>
                <c:pt idx="5">
                  <c:v>Imran Tahir</c:v>
                </c:pt>
                <c:pt idx="6">
                  <c:v>A Nehra</c:v>
                </c:pt>
                <c:pt idx="7">
                  <c:v>I MM Patel</c:v>
                </c:pt>
                <c:pt idx="8">
                  <c:v>DJ Bravo</c:v>
                </c:pt>
                <c:pt idx="9">
                  <c:v>KK Cooper</c:v>
                </c:pt>
              </c:strCache>
            </c:strRef>
          </c:cat>
          <c:val>
            <c:numRef>
              <c:f>'data (5)'!$C$5:$C$14</c:f>
              <c:numCache>
                <c:formatCode>General</c:formatCode>
                <c:ptCount val="10"/>
                <c:pt idx="0">
                  <c:v>12</c:v>
                </c:pt>
                <c:pt idx="1">
                  <c:v>13</c:v>
                </c:pt>
                <c:pt idx="2">
                  <c:v>14</c:v>
                </c:pt>
                <c:pt idx="3">
                  <c:v>15</c:v>
                </c:pt>
                <c:pt idx="4">
                  <c:v>15</c:v>
                </c:pt>
                <c:pt idx="5">
                  <c:v>15</c:v>
                </c:pt>
                <c:pt idx="6">
                  <c:v>16</c:v>
                </c:pt>
                <c:pt idx="7">
                  <c:v>16</c:v>
                </c:pt>
                <c:pt idx="8">
                  <c:v>16</c:v>
                </c:pt>
                <c:pt idx="9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B2-4ADF-8914-27A2A3A00F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1202970832"/>
        <c:axId val="1202968432"/>
      </c:barChart>
      <c:catAx>
        <c:axId val="1202970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2968432"/>
        <c:crosses val="autoZero"/>
        <c:auto val="1"/>
        <c:lblAlgn val="ctr"/>
        <c:lblOffset val="100"/>
        <c:noMultiLvlLbl val="0"/>
      </c:catAx>
      <c:valAx>
        <c:axId val="12029684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2970832"/>
        <c:crosses val="autoZero"/>
        <c:crossBetween val="between"/>
      </c:valAx>
      <c:spPr>
        <a:solidFill>
          <a:schemeClr val="accent3">
            <a:lumMod val="75000"/>
          </a:schemeClr>
        </a:solidFill>
        <a:ln>
          <a:noFill/>
        </a:ln>
        <a:effectLst/>
      </c:spPr>
    </c:plotArea>
    <c:plotVisOnly val="1"/>
    <c:dispBlanksAs val="gap"/>
    <c:showDLblsOverMax val="0"/>
  </c:chart>
  <c:spPr>
    <a:solidFill>
      <a:schemeClr val="accent3">
        <a:lumMod val="75000"/>
      </a:schemeClr>
    </a:solidFill>
    <a:ln>
      <a:noFill/>
    </a:ln>
    <a:effectLst/>
  </c:spPr>
  <c:txPr>
    <a:bodyPr/>
    <a:lstStyle/>
    <a:p>
      <a:pPr>
        <a:defRPr sz="1400" b="1" i="0"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'479cdbdc1c862c87c84e61f39f34d82'!$B$2</c:f>
              <c:strCache>
                <c:ptCount val="1"/>
                <c:pt idx="0">
                  <c:v>strike_rate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'479cdbdc1c862c87c84e61f39f34d82'!$A$3:$A$12</c:f>
              <c:strCache>
                <c:ptCount val="10"/>
                <c:pt idx="0">
                  <c:v>AD Russell</c:v>
                </c:pt>
                <c:pt idx="1">
                  <c:v>SP Narine</c:v>
                </c:pt>
                <c:pt idx="2">
                  <c:v>HH Pandya</c:v>
                </c:pt>
                <c:pt idx="3">
                  <c:v>GJ Maxwell</c:v>
                </c:pt>
                <c:pt idx="4">
                  <c:v>KA Pollard</c:v>
                </c:pt>
                <c:pt idx="5">
                  <c:v>CH Gayle</c:v>
                </c:pt>
                <c:pt idx="6">
                  <c:v>ST Jayasuriya</c:v>
                </c:pt>
                <c:pt idx="7">
                  <c:v>KH Pandya</c:v>
                </c:pt>
                <c:pt idx="8">
                  <c:v>YK Pathan</c:v>
                </c:pt>
                <c:pt idx="9">
                  <c:v>JA Morkel</c:v>
                </c:pt>
              </c:strCache>
            </c:strRef>
          </c:cat>
          <c:val>
            <c:numRef>
              <c:f>'479cdbdc1c862c87c84e61f39f34d82'!$B$3:$B$12</c:f>
              <c:numCache>
                <c:formatCode>General</c:formatCode>
                <c:ptCount val="10"/>
                <c:pt idx="0">
                  <c:v>185.15</c:v>
                </c:pt>
                <c:pt idx="1">
                  <c:v>170.5</c:v>
                </c:pt>
                <c:pt idx="2">
                  <c:v>162.59</c:v>
                </c:pt>
                <c:pt idx="3">
                  <c:v>160.28</c:v>
                </c:pt>
                <c:pt idx="4">
                  <c:v>153.16999999999999</c:v>
                </c:pt>
                <c:pt idx="5">
                  <c:v>153.11000000000001</c:v>
                </c:pt>
                <c:pt idx="6">
                  <c:v>147.86000000000001</c:v>
                </c:pt>
                <c:pt idx="7">
                  <c:v>145.77000000000001</c:v>
                </c:pt>
                <c:pt idx="8">
                  <c:v>145.62</c:v>
                </c:pt>
                <c:pt idx="9">
                  <c:v>144.83000000000001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16-4E00-B763-00CC6039FEE6}"/>
            </c:ext>
          </c:extLst>
        </c:ser>
        <c:ser>
          <c:idx val="1"/>
          <c:order val="1"/>
          <c:tx>
            <c:strRef>
              <c:f>'479cdbdc1c862c87c84e61f39f34d82'!$C$2</c:f>
              <c:strCache>
                <c:ptCount val="1"/>
                <c:pt idx="0">
                  <c:v>bowler_strikerate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'479cdbdc1c862c87c84e61f39f34d82'!$A$3:$A$12</c:f>
              <c:strCache>
                <c:ptCount val="10"/>
                <c:pt idx="0">
                  <c:v>AD Russell</c:v>
                </c:pt>
                <c:pt idx="1">
                  <c:v>SP Narine</c:v>
                </c:pt>
                <c:pt idx="2">
                  <c:v>HH Pandya</c:v>
                </c:pt>
                <c:pt idx="3">
                  <c:v>GJ Maxwell</c:v>
                </c:pt>
                <c:pt idx="4">
                  <c:v>KA Pollard</c:v>
                </c:pt>
                <c:pt idx="5">
                  <c:v>CH Gayle</c:v>
                </c:pt>
                <c:pt idx="6">
                  <c:v>ST Jayasuriya</c:v>
                </c:pt>
                <c:pt idx="7">
                  <c:v>KH Pandya</c:v>
                </c:pt>
                <c:pt idx="8">
                  <c:v>YK Pathan</c:v>
                </c:pt>
                <c:pt idx="9">
                  <c:v>JA Morkel</c:v>
                </c:pt>
              </c:strCache>
            </c:strRef>
          </c:cat>
          <c:val>
            <c:numRef>
              <c:f>'479cdbdc1c862c87c84e61f39f34d82'!$C$3:$C$12</c:f>
              <c:numCache>
                <c:formatCode>General</c:formatCode>
                <c:ptCount val="10"/>
                <c:pt idx="0">
                  <c:v>17</c:v>
                </c:pt>
                <c:pt idx="1">
                  <c:v>19</c:v>
                </c:pt>
                <c:pt idx="2">
                  <c:v>20</c:v>
                </c:pt>
                <c:pt idx="3">
                  <c:v>27</c:v>
                </c:pt>
                <c:pt idx="4">
                  <c:v>19</c:v>
                </c:pt>
                <c:pt idx="5">
                  <c:v>30</c:v>
                </c:pt>
                <c:pt idx="6">
                  <c:v>18</c:v>
                </c:pt>
                <c:pt idx="7">
                  <c:v>26</c:v>
                </c:pt>
                <c:pt idx="8">
                  <c:v>25</c:v>
                </c:pt>
                <c:pt idx="9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16-4E00-B763-00CC6039FE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98705136"/>
        <c:axId val="1398693136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'479cdbdc1c862c87c84e61f39f34d82'!$D$2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'479cdbdc1c862c87c84e61f39f34d82'!$A$3:$A$12</c15:sqref>
                        </c15:formulaRef>
                      </c:ext>
                    </c:extLst>
                    <c:strCache>
                      <c:ptCount val="10"/>
                      <c:pt idx="0">
                        <c:v>AD Russell</c:v>
                      </c:pt>
                      <c:pt idx="1">
                        <c:v>SP Narine</c:v>
                      </c:pt>
                      <c:pt idx="2">
                        <c:v>HH Pandya</c:v>
                      </c:pt>
                      <c:pt idx="3">
                        <c:v>GJ Maxwell</c:v>
                      </c:pt>
                      <c:pt idx="4">
                        <c:v>KA Pollard</c:v>
                      </c:pt>
                      <c:pt idx="5">
                        <c:v>CH Gayle</c:v>
                      </c:pt>
                      <c:pt idx="6">
                        <c:v>ST Jayasuriya</c:v>
                      </c:pt>
                      <c:pt idx="7">
                        <c:v>KH Pandya</c:v>
                      </c:pt>
                      <c:pt idx="8">
                        <c:v>YK Pathan</c:v>
                      </c:pt>
                      <c:pt idx="9">
                        <c:v>JA Morkel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'479cdbdc1c862c87c84e61f39f34d82'!$D$3:$D$12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1216-4E00-B763-00CC6039FEE6}"/>
                  </c:ext>
                </c:extLst>
              </c15:ser>
            </c15:filteredBarSeries>
          </c:ext>
        </c:extLst>
      </c:barChart>
      <c:catAx>
        <c:axId val="1398705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8693136"/>
        <c:crosses val="autoZero"/>
        <c:auto val="1"/>
        <c:lblAlgn val="ctr"/>
        <c:lblOffset val="100"/>
        <c:noMultiLvlLbl val="0"/>
      </c:catAx>
      <c:valAx>
        <c:axId val="13986931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87051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>
    <cx:plotArea>
      <cx:plotAreaRegion/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BC07572-589C-43B8-A7E4-5FB10C7AF578}" type="datetimeFigureOut">
              <a:rPr lang="en-IN" smtClean="0"/>
              <a:t>19-06-2024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08D7B3C3-9B18-48CE-AF3F-515890E0F81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505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07572-589C-43B8-A7E4-5FB10C7AF578}" type="datetimeFigureOut">
              <a:rPr lang="en-IN" smtClean="0"/>
              <a:t>19-06-2024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7B3C3-9B18-48CE-AF3F-515890E0F81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7633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07572-589C-43B8-A7E4-5FB10C7AF578}" type="datetimeFigureOut">
              <a:rPr lang="en-IN" smtClean="0"/>
              <a:t>19-06-2024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7B3C3-9B18-48CE-AF3F-515890E0F81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7949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07572-589C-43B8-A7E4-5FB10C7AF578}" type="datetimeFigureOut">
              <a:rPr lang="en-IN" smtClean="0"/>
              <a:t>19-06-2024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7B3C3-9B18-48CE-AF3F-515890E0F81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3882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07572-589C-43B8-A7E4-5FB10C7AF578}" type="datetimeFigureOut">
              <a:rPr lang="en-IN" smtClean="0"/>
              <a:t>19-06-2024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7B3C3-9B18-48CE-AF3F-515890E0F81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71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07572-589C-43B8-A7E4-5FB10C7AF578}" type="datetimeFigureOut">
              <a:rPr lang="en-IN" smtClean="0"/>
              <a:t>19-06-2024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7B3C3-9B18-48CE-AF3F-515890E0F81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7077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07572-589C-43B8-A7E4-5FB10C7AF578}" type="datetimeFigureOut">
              <a:rPr lang="en-IN" smtClean="0"/>
              <a:t>19-06-2024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7B3C3-9B18-48CE-AF3F-515890E0F81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827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07572-589C-43B8-A7E4-5FB10C7AF578}" type="datetimeFigureOut">
              <a:rPr lang="en-IN" smtClean="0"/>
              <a:t>19-06-2024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7B3C3-9B18-48CE-AF3F-515890E0F81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6544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07572-589C-43B8-A7E4-5FB10C7AF578}" type="datetimeFigureOut">
              <a:rPr lang="en-IN" smtClean="0"/>
              <a:t>19-06-2024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7B3C3-9B18-48CE-AF3F-515890E0F81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0549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07572-589C-43B8-A7E4-5FB10C7AF578}" type="datetimeFigureOut">
              <a:rPr lang="en-IN" smtClean="0"/>
              <a:t>19-06-2024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7B3C3-9B18-48CE-AF3F-515890E0F81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4480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07572-589C-43B8-A7E4-5FB10C7AF578}" type="datetimeFigureOut">
              <a:rPr lang="en-IN" smtClean="0"/>
              <a:t>19-06-2024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7B3C3-9B18-48CE-AF3F-515890E0F81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900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07572-589C-43B8-A7E4-5FB10C7AF578}" type="datetimeFigureOut">
              <a:rPr lang="en-IN" smtClean="0"/>
              <a:t>19-06-2024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7B3C3-9B18-48CE-AF3F-515890E0F81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17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07572-589C-43B8-A7E4-5FB10C7AF578}" type="datetimeFigureOut">
              <a:rPr lang="en-IN" smtClean="0"/>
              <a:t>19-06-2024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7B3C3-9B18-48CE-AF3F-515890E0F81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1155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07572-589C-43B8-A7E4-5FB10C7AF578}" type="datetimeFigureOut">
              <a:rPr lang="en-IN" smtClean="0"/>
              <a:t>19-06-2024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7B3C3-9B18-48CE-AF3F-515890E0F81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3699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07572-589C-43B8-A7E4-5FB10C7AF578}" type="datetimeFigureOut">
              <a:rPr lang="en-IN" smtClean="0"/>
              <a:t>19-06-2024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7B3C3-9B18-48CE-AF3F-515890E0F81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19502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07572-589C-43B8-A7E4-5FB10C7AF578}" type="datetimeFigureOut">
              <a:rPr lang="en-IN" smtClean="0"/>
              <a:t>19-06-2024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7B3C3-9B18-48CE-AF3F-515890E0F81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58399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07572-589C-43B8-A7E4-5FB10C7AF578}" type="datetimeFigureOut">
              <a:rPr lang="en-IN" smtClean="0"/>
              <a:t>19-06-2024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7B3C3-9B18-48CE-AF3F-515890E0F81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4876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BC07572-589C-43B8-A7E4-5FB10C7AF578}" type="datetimeFigureOut">
              <a:rPr lang="en-IN" smtClean="0"/>
              <a:t>19-06-2024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8D7B3C3-9B18-48CE-AF3F-515890E0F81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1630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estsportstutor.com/12-fastest-bowlers-in-cricket/" TargetMode="External"/><Relationship Id="rId7" Type="http://schemas.openxmlformats.org/officeDocument/2006/relationships/hyperlink" Target="https://en.wikipedia.org/wiki/All-rounder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hyperlink" Target="https://newcanadianmedia.ca/usa-clinches-last-spot-in-icc-u19-mens-world-cup-with-historic-victory-over-canada-cricket/" TargetMode="External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ustbutmust.com/who-is-the-best-wicket-keeper-in-the-world/3124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4066A-EED5-3F2E-2C39-E62C33BE78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Final Project-SQL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C68932-771F-5BE2-184A-B9A41A16B8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IPL AUCTION</a:t>
            </a:r>
          </a:p>
        </p:txBody>
      </p:sp>
    </p:spTree>
    <p:extLst>
      <p:ext uri="{BB962C8B-B14F-4D97-AF65-F5344CB8AC3E}">
        <p14:creationId xmlns:p14="http://schemas.microsoft.com/office/powerpoint/2010/main" val="2619090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16CE9-717C-34E7-7001-C8642B7D7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Create a table and restore data in it</a:t>
            </a:r>
          </a:p>
        </p:txBody>
      </p:sp>
    </p:spTree>
    <p:extLst>
      <p:ext uri="{BB962C8B-B14F-4D97-AF65-F5344CB8AC3E}">
        <p14:creationId xmlns:p14="http://schemas.microsoft.com/office/powerpoint/2010/main" val="2358447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B3C09-8CB8-7C80-EE59-68528412E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032" y="631860"/>
            <a:ext cx="5088048" cy="698356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Create ipl_ball table: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4AE5B-C360-8E75-A860-0B2C8EB49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7821" y="1463256"/>
            <a:ext cx="4561725" cy="4279998"/>
          </a:xfrm>
        </p:spPr>
        <p:txBody>
          <a:bodyPr>
            <a:noAutofit/>
          </a:bodyPr>
          <a:lstStyle/>
          <a:p>
            <a:pPr algn="l"/>
            <a:r>
              <a:rPr lang="en-IN" sz="1100" dirty="0">
                <a:latin typeface="+mj-lt"/>
                <a:cs typeface="Arial" panose="020B0604020202020204" pitchFamily="34" charset="0"/>
              </a:rPr>
              <a:t>CREATE TABLE ipl_ball_by_ball (</a:t>
            </a:r>
          </a:p>
          <a:p>
            <a:pPr algn="l"/>
            <a:r>
              <a:rPr lang="en-IN" sz="1100" dirty="0">
                <a:latin typeface="+mj-lt"/>
                <a:cs typeface="Arial" panose="020B0604020202020204" pitchFamily="34" charset="0"/>
              </a:rPr>
              <a:t>  id INT,</a:t>
            </a:r>
          </a:p>
          <a:p>
            <a:pPr algn="l"/>
            <a:r>
              <a:rPr lang="en-IN" sz="1100" dirty="0">
                <a:latin typeface="+mj-lt"/>
                <a:cs typeface="Arial" panose="020B0604020202020204" pitchFamily="34" charset="0"/>
              </a:rPr>
              <a:t>  inning INT,</a:t>
            </a:r>
          </a:p>
          <a:p>
            <a:pPr algn="l"/>
            <a:r>
              <a:rPr lang="en-IN" sz="1100" dirty="0">
                <a:latin typeface="+mj-lt"/>
                <a:cs typeface="Arial" panose="020B0604020202020204" pitchFamily="34" charset="0"/>
              </a:rPr>
              <a:t>  over INT,</a:t>
            </a:r>
          </a:p>
          <a:p>
            <a:pPr algn="l"/>
            <a:r>
              <a:rPr lang="en-IN" sz="1100" dirty="0">
                <a:latin typeface="+mj-lt"/>
                <a:cs typeface="Arial" panose="020B0604020202020204" pitchFamily="34" charset="0"/>
              </a:rPr>
              <a:t>  ball INT,</a:t>
            </a:r>
          </a:p>
          <a:p>
            <a:pPr algn="l"/>
            <a:r>
              <a:rPr lang="en-IN" sz="1100" dirty="0">
                <a:latin typeface="+mj-lt"/>
                <a:cs typeface="Arial" panose="020B0604020202020204" pitchFamily="34" charset="0"/>
              </a:rPr>
              <a:t>  batsman VARCHAR,</a:t>
            </a:r>
          </a:p>
          <a:p>
            <a:pPr algn="l"/>
            <a:r>
              <a:rPr lang="en-IN" sz="1100" dirty="0">
                <a:latin typeface="+mj-lt"/>
                <a:cs typeface="Arial" panose="020B0604020202020204" pitchFamily="34" charset="0"/>
              </a:rPr>
              <a:t>  non_striker VARCHAR,</a:t>
            </a:r>
          </a:p>
          <a:p>
            <a:pPr algn="l"/>
            <a:r>
              <a:rPr lang="en-IN" sz="1100" dirty="0">
                <a:latin typeface="+mj-lt"/>
                <a:cs typeface="Arial" panose="020B0604020202020204" pitchFamily="34" charset="0"/>
              </a:rPr>
              <a:t>  batsman_runs INT,</a:t>
            </a:r>
          </a:p>
          <a:p>
            <a:pPr algn="l"/>
            <a:r>
              <a:rPr lang="en-IN" sz="1100" dirty="0">
                <a:latin typeface="+mj-lt"/>
                <a:cs typeface="Arial" panose="020B0604020202020204" pitchFamily="34" charset="0"/>
              </a:rPr>
              <a:t>  is_wicket INT,</a:t>
            </a:r>
          </a:p>
          <a:p>
            <a:pPr algn="l"/>
            <a:r>
              <a:rPr lang="en-IN" sz="1100" dirty="0">
                <a:latin typeface="+mj-lt"/>
                <a:cs typeface="Arial" panose="020B0604020202020204" pitchFamily="34" charset="0"/>
              </a:rPr>
              <a:t>  dismissal_kind VARCHAR,</a:t>
            </a:r>
          </a:p>
          <a:p>
            <a:pPr algn="l"/>
            <a:r>
              <a:rPr lang="en-IN" sz="1100" dirty="0">
                <a:latin typeface="+mj-lt"/>
                <a:cs typeface="Arial" panose="020B0604020202020204" pitchFamily="34" charset="0"/>
              </a:rPr>
              <a:t>  player_dismissed VARCHAR,</a:t>
            </a:r>
          </a:p>
          <a:p>
            <a:pPr algn="l"/>
            <a:r>
              <a:rPr lang="en-IN" sz="1100" dirty="0">
                <a:latin typeface="+mj-lt"/>
                <a:cs typeface="Arial" panose="020B0604020202020204" pitchFamily="34" charset="0"/>
              </a:rPr>
              <a:t>  fielder VARCHAR,</a:t>
            </a:r>
          </a:p>
          <a:p>
            <a:pPr algn="l"/>
            <a:r>
              <a:rPr lang="en-IN" sz="1100" dirty="0">
                <a:latin typeface="+mj-lt"/>
                <a:cs typeface="Arial" panose="020B0604020202020204" pitchFamily="34" charset="0"/>
              </a:rPr>
              <a:t>  extras_type VARCHAR,</a:t>
            </a:r>
          </a:p>
          <a:p>
            <a:pPr algn="l"/>
            <a:r>
              <a:rPr lang="en-IN" sz="1100" dirty="0">
                <a:latin typeface="+mj-lt"/>
                <a:cs typeface="Arial" panose="020B0604020202020204" pitchFamily="34" charset="0"/>
              </a:rPr>
              <a:t>  batting_team VARCHAR,</a:t>
            </a:r>
          </a:p>
          <a:p>
            <a:pPr algn="l"/>
            <a:r>
              <a:rPr lang="en-IN" sz="1100" dirty="0">
                <a:latin typeface="+mj-lt"/>
                <a:cs typeface="Arial" panose="020B0604020202020204" pitchFamily="34" charset="0"/>
              </a:rPr>
              <a:t>  bowling_team VARCHAR</a:t>
            </a:r>
          </a:p>
          <a:p>
            <a:pPr algn="l"/>
            <a:r>
              <a:rPr lang="en-IN" sz="1100" dirty="0">
                <a:latin typeface="+mj-lt"/>
                <a:cs typeface="Arial" panose="020B0604020202020204" pitchFamily="34" charset="0"/>
              </a:rPr>
              <a:t>);</a:t>
            </a:r>
          </a:p>
          <a:p>
            <a:pPr algn="l"/>
            <a:r>
              <a:rPr lang="en-IN" sz="1100" dirty="0">
                <a:latin typeface="+mj-lt"/>
                <a:cs typeface="Arial" panose="020B0604020202020204" pitchFamily="34" charset="0"/>
              </a:rPr>
              <a:t>/Applications/PostgreSQL15/DATA/IPL_Ballcsv’ CSV header ;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49465B5-F7F8-E543-A8C8-F76C6DB9D6DA}"/>
              </a:ext>
            </a:extLst>
          </p:cNvPr>
          <p:cNvSpPr txBox="1">
            <a:spLocks/>
          </p:cNvSpPr>
          <p:nvPr/>
        </p:nvSpPr>
        <p:spPr>
          <a:xfrm>
            <a:off x="6563474" y="558228"/>
            <a:ext cx="5088048" cy="698356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Create ipl matches table: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9DC37CA-42F6-361D-2420-C65C02080488}"/>
              </a:ext>
            </a:extLst>
          </p:cNvPr>
          <p:cNvSpPr txBox="1">
            <a:spLocks/>
          </p:cNvSpPr>
          <p:nvPr/>
        </p:nvSpPr>
        <p:spPr>
          <a:xfrm>
            <a:off x="6707313" y="1463256"/>
            <a:ext cx="4561725" cy="4279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0EB6BD0-2CA4-40D2-2122-5819F9BF13FB}"/>
              </a:ext>
            </a:extLst>
          </p:cNvPr>
          <p:cNvSpPr txBox="1">
            <a:spLocks/>
          </p:cNvSpPr>
          <p:nvPr/>
        </p:nvSpPr>
        <p:spPr>
          <a:xfrm>
            <a:off x="6962454" y="1463256"/>
            <a:ext cx="4561725" cy="4279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C6AFFC-33F2-CBA4-0F41-FB7F29128D7F}"/>
              </a:ext>
            </a:extLst>
          </p:cNvPr>
          <p:cNvSpPr txBox="1"/>
          <p:nvPr/>
        </p:nvSpPr>
        <p:spPr>
          <a:xfrm>
            <a:off x="6563474" y="1256584"/>
            <a:ext cx="4705564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sz="1600" dirty="0"/>
              <a:t>create table ipl_matches(</a:t>
            </a:r>
          </a:p>
          <a:p>
            <a:r>
              <a:rPr lang="en-IN" sz="1600" dirty="0"/>
              <a:t>id int,</a:t>
            </a:r>
          </a:p>
          <a:p>
            <a:r>
              <a:rPr lang="en-IN" sz="1600" dirty="0"/>
              <a:t>city varchar, date diplomatese,</a:t>
            </a:r>
          </a:p>
          <a:p>
            <a:r>
              <a:rPr lang="en-IN" sz="1600" dirty="0"/>
              <a:t>player_of_match varchar.</a:t>
            </a:r>
          </a:p>
          <a:p>
            <a:r>
              <a:rPr lang="en-IN" sz="1600" dirty="0"/>
              <a:t>venue varchar,</a:t>
            </a:r>
          </a:p>
          <a:p>
            <a:r>
              <a:rPr lang="en-IN" sz="1600" dirty="0"/>
              <a:t>neutral_venue int,</a:t>
            </a:r>
          </a:p>
          <a:p>
            <a:r>
              <a:rPr lang="en-IN" sz="1600" dirty="0"/>
              <a:t>team1 varchar.</a:t>
            </a:r>
          </a:p>
          <a:p>
            <a:r>
              <a:rPr lang="en-IN" sz="1600" dirty="0"/>
              <a:t>team2 varchar,</a:t>
            </a:r>
          </a:p>
          <a:p>
            <a:r>
              <a:rPr lang="en-IN" sz="1600" dirty="0"/>
              <a:t>toss_winner varchar, toss_decision varchar, winner varchar, result varchar,</a:t>
            </a:r>
          </a:p>
          <a:p>
            <a:r>
              <a:rPr lang="en-IN" sz="1600" dirty="0"/>
              <a:t>result_margin int,</a:t>
            </a:r>
          </a:p>
          <a:p>
            <a:r>
              <a:rPr lang="en-IN" sz="1600" dirty="0"/>
              <a:t>eliminator varchar,</a:t>
            </a:r>
          </a:p>
          <a:p>
            <a:r>
              <a:rPr lang="en-IN" sz="1600" dirty="0"/>
              <a:t>method varchar,</a:t>
            </a:r>
          </a:p>
          <a:p>
            <a:r>
              <a:rPr lang="en-IN" sz="1600" dirty="0"/>
              <a:t>umpirel varchar,</a:t>
            </a:r>
          </a:p>
          <a:p>
            <a:r>
              <a:rPr lang="en-IN" sz="1600" dirty="0"/>
              <a:t>umpire2 varchar);</a:t>
            </a:r>
          </a:p>
          <a:p>
            <a:r>
              <a:rPr lang="en-IN" sz="1600" dirty="0"/>
              <a:t>set datestyle to "ISO,DMY“</a:t>
            </a:r>
          </a:p>
          <a:p>
            <a:endParaRPr lang="en-IN" sz="1600" dirty="0"/>
          </a:p>
          <a:p>
            <a:r>
              <a:rPr lang="en-IN" sz="1600" dirty="0"/>
              <a:t>copy ipl_matches from '/Applications/PostgreSQL 15/DATA/IPL matches.csv' CSV header;</a:t>
            </a:r>
          </a:p>
        </p:txBody>
      </p:sp>
    </p:spTree>
    <p:extLst>
      <p:ext uri="{BB962C8B-B14F-4D97-AF65-F5344CB8AC3E}">
        <p14:creationId xmlns:p14="http://schemas.microsoft.com/office/powerpoint/2010/main" val="3302760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32FDF-A4E1-1117-2235-171B64C77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096" y="4767210"/>
            <a:ext cx="2310827" cy="1303867"/>
          </a:xfrm>
        </p:spPr>
        <p:txBody>
          <a:bodyPr/>
          <a:lstStyle/>
          <a:p>
            <a:r>
              <a:rPr lang="en-IN" dirty="0"/>
              <a:t>Bowler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ACAF2F-A4F8-7286-D3CE-8E26867FE8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69106" y="1696413"/>
            <a:ext cx="4061798" cy="317344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F7AD37-3795-AD2C-CB5C-2CC89AF225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606168" y="1696413"/>
            <a:ext cx="4215911" cy="3243289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01E2115-E5C8-7AFD-44A7-627A0022204C}"/>
              </a:ext>
            </a:extLst>
          </p:cNvPr>
          <p:cNvSpPr txBox="1">
            <a:spLocks/>
          </p:cNvSpPr>
          <p:nvPr/>
        </p:nvSpPr>
        <p:spPr>
          <a:xfrm>
            <a:off x="5275007" y="4767210"/>
            <a:ext cx="2310827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/>
              <a:t>Batsmen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60201F8-7137-0733-78CE-680314A834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8897343" y="1766259"/>
            <a:ext cx="2825551" cy="3173443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10D031BC-63A3-A9D3-A0D9-1A79D14A42F3}"/>
              </a:ext>
            </a:extLst>
          </p:cNvPr>
          <p:cNvSpPr txBox="1">
            <a:spLocks/>
          </p:cNvSpPr>
          <p:nvPr/>
        </p:nvSpPr>
        <p:spPr>
          <a:xfrm>
            <a:off x="9065528" y="5050644"/>
            <a:ext cx="2310827" cy="102043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/>
              <a:t>All-Rounder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2BDEAF-F53E-A882-A981-EA6E6653C8B4}"/>
              </a:ext>
            </a:extLst>
          </p:cNvPr>
          <p:cNvSpPr txBox="1"/>
          <p:nvPr/>
        </p:nvSpPr>
        <p:spPr>
          <a:xfrm>
            <a:off x="4693875" y="671446"/>
            <a:ext cx="61182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Team Roles</a:t>
            </a:r>
          </a:p>
        </p:txBody>
      </p:sp>
    </p:spTree>
    <p:extLst>
      <p:ext uri="{BB962C8B-B14F-4D97-AF65-F5344CB8AC3E}">
        <p14:creationId xmlns:p14="http://schemas.microsoft.com/office/powerpoint/2010/main" val="421366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5AD6C-3699-F763-FB89-7B083E9B5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1" dirty="0"/>
              <a:t>Batsman</a:t>
            </a:r>
          </a:p>
        </p:txBody>
      </p:sp>
      <p:pic>
        <p:nvPicPr>
          <p:cNvPr id="5" name="Content Placeholder 4" descr="Circles with lines">
            <a:extLst>
              <a:ext uri="{FF2B5EF4-FFF2-40B4-BE49-F238E27FC236}">
                <a16:creationId xmlns:a16="http://schemas.microsoft.com/office/drawing/2014/main" id="{FADBE0F6-0501-F188-843A-C739173ACA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04252" y="4321223"/>
            <a:ext cx="914400" cy="9144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639D02-56CE-CC5A-A017-CEC9FCB75BE8}"/>
              </a:ext>
            </a:extLst>
          </p:cNvPr>
          <p:cNvSpPr txBox="1"/>
          <p:nvPr/>
        </p:nvSpPr>
        <p:spPr>
          <a:xfrm>
            <a:off x="812515" y="3234815"/>
            <a:ext cx="299919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HIGH S.R GOOD RVG</a:t>
            </a:r>
          </a:p>
          <a:p>
            <a:endParaRPr lang="en-US" dirty="0">
              <a:solidFill>
                <a:srgbClr val="FF0000"/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A03E31-3AFF-1214-5A10-CA034D8BD361}"/>
              </a:ext>
            </a:extLst>
          </p:cNvPr>
          <p:cNvSpPr/>
          <p:nvPr/>
        </p:nvSpPr>
        <p:spPr>
          <a:xfrm>
            <a:off x="636571" y="4085238"/>
            <a:ext cx="3380197" cy="118246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 Strike Rate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Faced atleast 500 seasons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C5FEF8-D791-0C7A-FCCA-790936A6887E}"/>
              </a:ext>
            </a:extLst>
          </p:cNvPr>
          <p:cNvSpPr txBox="1"/>
          <p:nvPr/>
        </p:nvSpPr>
        <p:spPr>
          <a:xfrm>
            <a:off x="4778338" y="3325184"/>
            <a:ext cx="206425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GOOD RVG</a:t>
            </a:r>
          </a:p>
          <a:p>
            <a:endParaRPr lang="en-US" dirty="0">
              <a:solidFill>
                <a:srgbClr val="FF0000"/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39EAF6-FC65-2E66-E332-133F7FC9EC89}"/>
              </a:ext>
            </a:extLst>
          </p:cNvPr>
          <p:cNvSpPr/>
          <p:nvPr/>
        </p:nvSpPr>
        <p:spPr>
          <a:xfrm>
            <a:off x="4931168" y="4085238"/>
            <a:ext cx="2999197" cy="118246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Good 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Played atleast 2 IPL seasons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2C318F-E431-1382-A4B2-3225C5A4E350}"/>
              </a:ext>
            </a:extLst>
          </p:cNvPr>
          <p:cNvSpPr txBox="1"/>
          <p:nvPr/>
        </p:nvSpPr>
        <p:spPr>
          <a:xfrm>
            <a:off x="8968482" y="3306314"/>
            <a:ext cx="206425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Hard Hitter</a:t>
            </a:r>
          </a:p>
          <a:p>
            <a:endParaRPr lang="en-US" dirty="0">
              <a:solidFill>
                <a:srgbClr val="FF0000"/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12" name="Content Placeholder 4" descr="Circles with lines">
            <a:extLst>
              <a:ext uri="{FF2B5EF4-FFF2-40B4-BE49-F238E27FC236}">
                <a16:creationId xmlns:a16="http://schemas.microsoft.com/office/drawing/2014/main" id="{C58EF9ED-CF16-0719-02D2-17663169B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2881" y="4321223"/>
            <a:ext cx="914400" cy="9144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04BCFE9-697B-B746-1CE9-8684AC64863F}"/>
              </a:ext>
            </a:extLst>
          </p:cNvPr>
          <p:cNvSpPr/>
          <p:nvPr/>
        </p:nvSpPr>
        <p:spPr>
          <a:xfrm>
            <a:off x="8773273" y="4085238"/>
            <a:ext cx="2782156" cy="118246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 boundary percentage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Played atleast 2 IPLseasons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003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F4462-3489-E038-E9EF-0B15876922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8165" y="441790"/>
            <a:ext cx="6815669" cy="815558"/>
          </a:xfrm>
          <a:blipFill>
            <a:blip r:embed="rId2"/>
            <a:tile tx="0" ty="0" sx="100000" sy="100000" flip="none" algn="tl"/>
          </a:blipFill>
        </p:spPr>
        <p:txBody>
          <a:bodyPr/>
          <a:lstStyle/>
          <a:p>
            <a:r>
              <a:rPr lang="en-IN" dirty="0">
                <a:solidFill>
                  <a:schemeClr val="accent3">
                    <a:lumMod val="50000"/>
                  </a:schemeClr>
                </a:solidFill>
              </a:rPr>
              <a:t>High Strike Rate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45125-63DC-E78F-4A6E-FDFC5A52B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3626" y="1871131"/>
            <a:ext cx="3872788" cy="3390475"/>
          </a:xfr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>
            <a:normAutofit/>
          </a:bodyPr>
          <a:lstStyle/>
          <a:p>
            <a:r>
              <a:rPr lang="en-IN" dirty="0"/>
              <a:t>QUERY: </a:t>
            </a:r>
          </a:p>
          <a:p>
            <a:r>
              <a:rPr lang="en-US" dirty="0"/>
              <a:t>SELECTbatsman,ROUND((SUM(batsman_runs)/COUNT(ball))*100,2) AS strike_rateFROM</a:t>
            </a:r>
          </a:p>
          <a:p>
            <a:r>
              <a:rPr lang="en-US" dirty="0"/>
              <a:t> ipl_ballWHERE extras_type = 'NA'GROUP BY batsmanHAVING COUNT (ball)&gt;500ORDER BY strike_rate DESCLIMIT 10;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0B7FFAA-B217-75D9-AE08-D1F079BF669C}"/>
              </a:ext>
            </a:extLst>
          </p:cNvPr>
          <p:cNvSpPr/>
          <p:nvPr/>
        </p:nvSpPr>
        <p:spPr>
          <a:xfrm>
            <a:off x="6914508" y="1516524"/>
            <a:ext cx="1797977" cy="27473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Result: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B0CB03-173B-2BE3-C0A7-316A8DEF0E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2171" y="1947696"/>
            <a:ext cx="3014799" cy="318179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31603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70B0C-3A42-09D3-8037-DE94D4F1F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High Strike Rate Batsman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5" name="Content Placeholder 14">
                <a:extLst>
                  <a:ext uri="{FF2B5EF4-FFF2-40B4-BE49-F238E27FC236}">
                    <a16:creationId xmlns:a16="http://schemas.microsoft.com/office/drawing/2014/main" id="{22758113-166E-F7AC-9428-95F36CAA688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01791153"/>
                  </p:ext>
                </p:extLst>
              </p:nvPr>
            </p:nvGraphicFramePr>
            <p:xfrm>
              <a:off x="1295400" y="2557463"/>
              <a:ext cx="9601200" cy="331787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15" name="Content Placeholder 14">
                <a:extLst>
                  <a:ext uri="{FF2B5EF4-FFF2-40B4-BE49-F238E27FC236}">
                    <a16:creationId xmlns:a16="http://schemas.microsoft.com/office/drawing/2014/main" id="{22758113-166E-F7AC-9428-95F36CAA688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95400" y="2557463"/>
                <a:ext cx="9601200" cy="3317875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1FDBAB7D-69A9-8E4B-1C19-547549888E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941314"/>
              </p:ext>
            </p:extLst>
          </p:nvPr>
        </p:nvGraphicFramePr>
        <p:xfrm>
          <a:off x="452063" y="2106202"/>
          <a:ext cx="11229654" cy="42716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16463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8D935-5121-FA6D-F765-144B6F4BF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096" y="889665"/>
            <a:ext cx="9601196" cy="1303867"/>
          </a:xfrm>
        </p:spPr>
        <p:txBody>
          <a:bodyPr/>
          <a:lstStyle/>
          <a:p>
            <a:r>
              <a:rPr lang="en-IN" dirty="0"/>
              <a:t>Good Average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3AC0328-A0A0-C1E3-823D-ADDCF1265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353" y="2555697"/>
            <a:ext cx="5003514" cy="367948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t">
            <a:normAutofit fontScale="92500" lnSpcReduction="20000"/>
          </a:bodyPr>
          <a:lstStyle/>
          <a:p>
            <a:pPr marL="457200" lvl="1" indent="0">
              <a:lnSpc>
                <a:spcPct val="110000"/>
              </a:lnSpc>
              <a:buNone/>
            </a:pPr>
            <a:r>
              <a:rPr lang="en-IN" sz="1800" dirty="0"/>
              <a:t>SELECT DISTINCTb.batsman,SUM(b.batsman_runs) AS total_runs,SUM (bis_wicket) AS total_dis,COUNT(DISTINCT(EXTRACT(YEAR FROM a.date})) ASseasons_played,ROUND{SUM(b.batsman_runs)/SUMIbis_wicket),2) ASpatsman_averageFROM ipl_matches AS aFULL JOIN ipl_ball AS bON alid=b.idWHERE extras_type= ‘NA’GROUP BY b.batsmanHAVING COUNT(DISTINCT(EXTRACT(YEAR FROM a.date)))&gt;2 ANDNOT SUM(b.is_wicket)=0ORDER BY batsman_average DESCLIMIT 10;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82D97E-81C6-46D4-B98F-C9D3A280B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867" y="2917862"/>
            <a:ext cx="5825447" cy="332787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E606B89-D653-CF97-D846-904DA3096F92}"/>
              </a:ext>
            </a:extLst>
          </p:cNvPr>
          <p:cNvSpPr txBox="1">
            <a:spLocks/>
          </p:cNvSpPr>
          <p:nvPr/>
        </p:nvSpPr>
        <p:spPr>
          <a:xfrm>
            <a:off x="7397394" y="2271446"/>
            <a:ext cx="1802256" cy="56850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800" i="1" dirty="0"/>
              <a:t>Result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E40DD54-DA94-BAFE-7108-99944C94663E}"/>
              </a:ext>
            </a:extLst>
          </p:cNvPr>
          <p:cNvSpPr txBox="1">
            <a:spLocks/>
          </p:cNvSpPr>
          <p:nvPr/>
        </p:nvSpPr>
        <p:spPr>
          <a:xfrm>
            <a:off x="157968" y="1987195"/>
            <a:ext cx="1802256" cy="56850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800" i="1" dirty="0"/>
              <a:t>Query</a:t>
            </a:r>
          </a:p>
        </p:txBody>
      </p:sp>
    </p:spTree>
    <p:extLst>
      <p:ext uri="{BB962C8B-B14F-4D97-AF65-F5344CB8AC3E}">
        <p14:creationId xmlns:p14="http://schemas.microsoft.com/office/powerpoint/2010/main" val="474675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09145-C549-5F91-91EE-4F275C26E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Good Average Batsman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4F8D6B0C-9A1E-4A19-FF54-0D15E766D2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6451937"/>
              </p:ext>
            </p:extLst>
          </p:nvPr>
        </p:nvGraphicFramePr>
        <p:xfrm>
          <a:off x="657545" y="2285998"/>
          <a:ext cx="10931703" cy="4083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0226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DF648-BC46-825F-CB72-1B1FC4C76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467" y="643085"/>
            <a:ext cx="9601196" cy="1303867"/>
          </a:xfrm>
        </p:spPr>
        <p:txBody>
          <a:bodyPr/>
          <a:lstStyle/>
          <a:p>
            <a:r>
              <a:rPr lang="en-IN" dirty="0"/>
              <a:t>Hard Hitters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4D282-9E42-8779-7F79-13038CF74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387" y="1858289"/>
            <a:ext cx="4684159" cy="3318936"/>
          </a:xfrm>
        </p:spPr>
        <p:txBody>
          <a:bodyPr>
            <a:noAutofit/>
          </a:bodyPr>
          <a:lstStyle/>
          <a:p>
            <a:endParaRPr lang="en-IN" sz="1200" dirty="0"/>
          </a:p>
          <a:p>
            <a:r>
              <a:rPr lang="en-IN" sz="1200" b="1" dirty="0"/>
              <a:t>SELECT DISTINCT b.batsman,</a:t>
            </a:r>
          </a:p>
          <a:p>
            <a:r>
              <a:rPr lang="en-IN" sz="1200" b="1" dirty="0"/>
              <a:t>COUNT(DISTINCT(EXTRACT(YEAR FROM a.date))) AS</a:t>
            </a:r>
          </a:p>
          <a:p>
            <a:r>
              <a:rPr lang="en-IN" sz="1200" b="1" dirty="0"/>
              <a:t>seasons played,</a:t>
            </a:r>
          </a:p>
          <a:p>
            <a:r>
              <a:rPr lang="en-IN" sz="1200" b="1" dirty="0"/>
              <a:t>SUM(CASE WHEN b.batsman_runs = 4 OR b.batsman_runs = 6 THEN b.batsman_runs ELSE O END) AS boundary_runs, (SUM(CASE WHEN b.batsman_runs = 4 OR b.batsman_runs = 6 THEN b.batsman_runs ELSE 0 END)/ SUM(b.batsman_runs)) * 100 AS boundary_percent</a:t>
            </a:r>
          </a:p>
          <a:p>
            <a:r>
              <a:rPr lang="en-IN" sz="1200" b="1" dirty="0"/>
              <a:t>FROM ipl_matches AS a</a:t>
            </a:r>
          </a:p>
          <a:p>
            <a:r>
              <a:rPr lang="en-IN" sz="1200" b="1" dirty="0"/>
              <a:t>FULL JOIN ipl ball AS b ON a.id = b.id</a:t>
            </a:r>
          </a:p>
          <a:p>
            <a:r>
              <a:rPr lang="en-IN" sz="1200" b="1" dirty="0"/>
              <a:t>WHERE extras_type = 'NA'</a:t>
            </a:r>
          </a:p>
          <a:p>
            <a:r>
              <a:rPr lang="en-IN" sz="1200" b="1" dirty="0"/>
              <a:t>GROUP BY b.batsman</a:t>
            </a:r>
          </a:p>
          <a:p>
            <a:r>
              <a:rPr lang="en-IN" sz="1200" b="1" dirty="0"/>
              <a:t>HAVING COUNT(DISTINCT(EXTRACT(YEAR FROM a.date))) &gt; 2</a:t>
            </a:r>
          </a:p>
          <a:p>
            <a:r>
              <a:rPr lang="en-IN" sz="1200" b="1" dirty="0"/>
              <a:t>ORDER BY boundary_percent DESC</a:t>
            </a:r>
          </a:p>
          <a:p>
            <a:r>
              <a:rPr lang="en-IN" sz="1200" b="1" dirty="0"/>
              <a:t>LIMIT 10;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3C310AE-BAB2-6917-277E-A10804E152F8}"/>
              </a:ext>
            </a:extLst>
          </p:cNvPr>
          <p:cNvSpPr txBox="1">
            <a:spLocks/>
          </p:cNvSpPr>
          <p:nvPr/>
        </p:nvSpPr>
        <p:spPr>
          <a:xfrm>
            <a:off x="209339" y="1574038"/>
            <a:ext cx="1802256" cy="56850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800" i="1" dirty="0"/>
              <a:t>Query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6F7275C-0641-B0A2-14F9-6B15B01FC552}"/>
              </a:ext>
            </a:extLst>
          </p:cNvPr>
          <p:cNvSpPr txBox="1">
            <a:spLocks/>
          </p:cNvSpPr>
          <p:nvPr/>
        </p:nvSpPr>
        <p:spPr>
          <a:xfrm>
            <a:off x="7518967" y="1760495"/>
            <a:ext cx="1802256" cy="56850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800" i="1" dirty="0"/>
              <a:t>Result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1FE8F9B-D37D-6845-F7C1-3AD2E89A83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0984" y="2730700"/>
            <a:ext cx="5558222" cy="275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451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09097-33F2-6C89-D780-DB5B34581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Hard Hitter Batsman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D84CF83-273E-24B3-4554-DC4C495686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4876572"/>
              </p:ext>
            </p:extLst>
          </p:nvPr>
        </p:nvGraphicFramePr>
        <p:xfrm>
          <a:off x="899842" y="2982074"/>
          <a:ext cx="999675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0210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09097-33F2-6C89-D780-DB5B34581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Good Economy Bowlers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E519D-78A6-5EA9-F553-E3CDDDFEE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693" y="2285999"/>
            <a:ext cx="9601196" cy="3502538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  <a:p>
            <a:r>
              <a:rPr lang="en-US" dirty="0"/>
              <a:t>SELECT bowler,</a:t>
            </a:r>
          </a:p>
          <a:p>
            <a:r>
              <a:rPr lang="en-US" dirty="0"/>
              <a:t>ROUND((SUM(total_runs)/(COUNT(bowler)/6.0)),2)</a:t>
            </a:r>
          </a:p>
          <a:p>
            <a:r>
              <a:rPr lang="en-US" dirty="0"/>
              <a:t>AS economy</a:t>
            </a:r>
          </a:p>
          <a:p>
            <a:r>
              <a:rPr lang="en-US" dirty="0"/>
              <a:t>FROM ipl ball</a:t>
            </a:r>
          </a:p>
          <a:p>
            <a:r>
              <a:rPr lang="en-US" dirty="0"/>
              <a:t>GROUP BY bowler</a:t>
            </a:r>
          </a:p>
          <a:p>
            <a:r>
              <a:rPr lang="en-US" dirty="0"/>
              <a:t>HAVING COUNT(bowler) &gt;= 500</a:t>
            </a:r>
          </a:p>
          <a:p>
            <a:r>
              <a:rPr lang="en-US" dirty="0"/>
              <a:t>ORDER BY economy</a:t>
            </a:r>
          </a:p>
          <a:p>
            <a:r>
              <a:rPr lang="en-US" dirty="0"/>
              <a:t>LIMIT 10;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9B3BC3-996D-278F-133B-316093FC2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5116" y="2559500"/>
            <a:ext cx="3651482" cy="378089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24520C4-EDF0-E4EE-6FA0-76B3258D4DE6}"/>
              </a:ext>
            </a:extLst>
          </p:cNvPr>
          <p:cNvSpPr txBox="1">
            <a:spLocks/>
          </p:cNvSpPr>
          <p:nvPr/>
        </p:nvSpPr>
        <p:spPr>
          <a:xfrm>
            <a:off x="8013843" y="2001748"/>
            <a:ext cx="1802256" cy="56850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800" i="1" dirty="0"/>
              <a:t>Result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E4764FC-2139-6E21-9FA0-433906F4320E}"/>
              </a:ext>
            </a:extLst>
          </p:cNvPr>
          <p:cNvSpPr txBox="1">
            <a:spLocks/>
          </p:cNvSpPr>
          <p:nvPr/>
        </p:nvSpPr>
        <p:spPr>
          <a:xfrm>
            <a:off x="137420" y="1990998"/>
            <a:ext cx="1802256" cy="56850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800" i="1" dirty="0"/>
              <a:t>Query</a:t>
            </a:r>
          </a:p>
        </p:txBody>
      </p:sp>
    </p:spTree>
    <p:extLst>
      <p:ext uri="{BB962C8B-B14F-4D97-AF65-F5344CB8AC3E}">
        <p14:creationId xmlns:p14="http://schemas.microsoft.com/office/powerpoint/2010/main" val="1609251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8BAAE-185A-D1AB-AC62-A642541DE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Good Economy Bowlers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6CA7B7D-C67E-44F1-C0F9-6A1424531F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6635654"/>
              </p:ext>
            </p:extLst>
          </p:nvPr>
        </p:nvGraphicFramePr>
        <p:xfrm>
          <a:off x="1295400" y="2557463"/>
          <a:ext cx="9601200" cy="3317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07207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FA6E-3566-4E9D-89D4-3F5B32AD4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Good Bowler Strike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5645B-8C64-931C-7EA6-85C7D46B6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285999"/>
            <a:ext cx="4684159" cy="3589869"/>
          </a:xfrm>
        </p:spPr>
        <p:txBody>
          <a:bodyPr>
            <a:normAutofit lnSpcReduction="10000"/>
          </a:bodyPr>
          <a:lstStyle/>
          <a:p>
            <a:endParaRPr lang="en-US" sz="2000" dirty="0"/>
          </a:p>
          <a:p>
            <a:r>
              <a:rPr lang="en-US" sz="2000" dirty="0"/>
              <a:t>SELECT bowler,</a:t>
            </a:r>
          </a:p>
          <a:p>
            <a:r>
              <a:rPr lang="en-US" sz="2000" dirty="0"/>
              <a:t>COUNT(bowler)/SUM(is_wicket) AS</a:t>
            </a:r>
          </a:p>
          <a:p>
            <a:r>
              <a:rPr lang="en-US" sz="2000" dirty="0"/>
              <a:t>bowler_strikeRate</a:t>
            </a:r>
          </a:p>
          <a:p>
            <a:r>
              <a:rPr lang="en-US" sz="2000" dirty="0"/>
              <a:t>FROM ipl ball</a:t>
            </a:r>
          </a:p>
          <a:p>
            <a:r>
              <a:rPr lang="en-US" sz="2000" dirty="0"/>
              <a:t>GROUP BY bowler</a:t>
            </a:r>
          </a:p>
          <a:p>
            <a:r>
              <a:rPr lang="en-US" sz="2000" dirty="0"/>
              <a:t>HAVING COUNT(bowler)&gt;500 ORDER BY bowler_strikeRate LIMIT 10</a:t>
            </a:r>
            <a:r>
              <a:rPr lang="en-US" dirty="0"/>
              <a:t>;</a:t>
            </a:r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0E93D2C-DAB5-7616-4783-1E5C16DB56B1}"/>
              </a:ext>
            </a:extLst>
          </p:cNvPr>
          <p:cNvSpPr txBox="1">
            <a:spLocks/>
          </p:cNvSpPr>
          <p:nvPr/>
        </p:nvSpPr>
        <p:spPr>
          <a:xfrm>
            <a:off x="358742" y="2213320"/>
            <a:ext cx="1398140" cy="80728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000" b="1" dirty="0"/>
              <a:t>Query</a:t>
            </a:r>
            <a:r>
              <a:rPr lang="en-IN" sz="2000" dirty="0"/>
              <a:t>: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97D946A-6663-AB3C-102A-13970F2836CE}"/>
              </a:ext>
            </a:extLst>
          </p:cNvPr>
          <p:cNvSpPr txBox="1">
            <a:spLocks/>
          </p:cNvSpPr>
          <p:nvPr/>
        </p:nvSpPr>
        <p:spPr>
          <a:xfrm>
            <a:off x="7127699" y="2249660"/>
            <a:ext cx="1398140" cy="80728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000" b="1" dirty="0"/>
              <a:t>Result</a:t>
            </a:r>
            <a:r>
              <a:rPr lang="en-IN" sz="2000" dirty="0"/>
              <a:t>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9F8BC8-3E49-6E33-CF73-0C82C4A61F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745" y="2879808"/>
            <a:ext cx="3200847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234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02B48-E297-AFD4-55E1-78AD014E2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Good Strike Rate Bowlers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73403FB-DF44-89A0-7F6A-DF72999812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1580906"/>
              </p:ext>
            </p:extLst>
          </p:nvPr>
        </p:nvGraphicFramePr>
        <p:xfrm>
          <a:off x="2095929" y="2088222"/>
          <a:ext cx="8167956" cy="39529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443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D328B-5EED-D88D-A634-8AFDF7A34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190072"/>
            <a:ext cx="9601196" cy="1303867"/>
          </a:xfrm>
        </p:spPr>
        <p:txBody>
          <a:bodyPr>
            <a:normAutofit/>
          </a:bodyPr>
          <a:lstStyle/>
          <a:p>
            <a:r>
              <a:rPr lang="en-IN" sz="3600" dirty="0">
                <a:cs typeface="Arial" panose="020B0604020202020204" pitchFamily="34" charset="0"/>
              </a:rPr>
              <a:t>All rounder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FF229-9CBB-4B35-CC5B-CFEBEDF6B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818" y="1245647"/>
            <a:ext cx="11167153" cy="4331891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1400" dirty="0">
              <a:latin typeface="+mj-lt"/>
            </a:endParaRPr>
          </a:p>
          <a:p>
            <a:pPr marL="0" indent="0">
              <a:buNone/>
            </a:pPr>
            <a:r>
              <a:rPr lang="en-IN" sz="1200" b="1" dirty="0"/>
              <a:t>SELECT batsman,</a:t>
            </a:r>
          </a:p>
          <a:p>
            <a:pPr marL="0" indent="0">
              <a:buNone/>
            </a:pPr>
            <a:r>
              <a:rPr lang="en-IN" sz="1200" b="1" dirty="0"/>
              <a:t>round((SUM(batsman_runs)/COUNT(ball))*100,2) AS strike_rate,</a:t>
            </a:r>
          </a:p>
          <a:p>
            <a:pPr marL="0" indent="0">
              <a:buNone/>
            </a:pPr>
            <a:r>
              <a:rPr lang="en-IN" sz="1200" b="1" dirty="0"/>
              <a:t>bowler_strikeRate</a:t>
            </a:r>
          </a:p>
          <a:p>
            <a:pPr marL="0" indent="0">
              <a:buNone/>
            </a:pPr>
            <a:r>
              <a:rPr lang="en-IN" sz="1200" b="1" dirty="0"/>
              <a:t>FROM ipl ball AS a</a:t>
            </a:r>
          </a:p>
          <a:p>
            <a:pPr marL="0" indent="0">
              <a:buNone/>
            </a:pPr>
            <a:r>
              <a:rPr lang="en-IN" sz="1200" b="1" dirty="0"/>
              <a:t>INNER JOIN(SELECT bowler,</a:t>
            </a:r>
          </a:p>
          <a:p>
            <a:pPr marL="0" indent="0">
              <a:buNone/>
            </a:pPr>
            <a:r>
              <a:rPr lang="en-IN" sz="1200" b="1" dirty="0"/>
              <a:t>COUNT(bowler)/SUM(is_wicket) AS bowler_strikeRate</a:t>
            </a:r>
          </a:p>
          <a:p>
            <a:pPr marL="0" indent="0">
              <a:buNone/>
            </a:pPr>
            <a:r>
              <a:rPr lang="en-IN" sz="1200" b="1" dirty="0"/>
              <a:t>FROM ipl ball</a:t>
            </a:r>
          </a:p>
          <a:p>
            <a:pPr marL="0" indent="0">
              <a:buNone/>
            </a:pPr>
            <a:r>
              <a:rPr lang="en-IN" sz="1200" b="1" dirty="0"/>
              <a:t>GROUP BY bowler</a:t>
            </a:r>
          </a:p>
          <a:p>
            <a:pPr marL="0" indent="0">
              <a:buNone/>
            </a:pPr>
            <a:r>
              <a:rPr lang="en-IN" sz="1200" b="1" dirty="0"/>
              <a:t>HAVING COUNT(bowler)&gt;300</a:t>
            </a:r>
          </a:p>
          <a:p>
            <a:pPr marL="0" indent="0">
              <a:buNone/>
            </a:pPr>
            <a:r>
              <a:rPr lang="en-IN" sz="1200" b="1" dirty="0"/>
              <a:t>ORDER BY bowler_strikeRate ASC) AS b</a:t>
            </a:r>
          </a:p>
          <a:p>
            <a:pPr marL="0" indent="0">
              <a:buNone/>
            </a:pPr>
            <a:r>
              <a:rPr lang="en-IN" sz="1200" b="1" dirty="0"/>
              <a:t>ON a.batsman-b.bowler</a:t>
            </a:r>
          </a:p>
          <a:p>
            <a:pPr marL="0" indent="0">
              <a:buNone/>
            </a:pPr>
            <a:r>
              <a:rPr lang="en-IN" sz="1200" b="1" dirty="0"/>
              <a:t>WHERE extras_type='NA'</a:t>
            </a:r>
          </a:p>
          <a:p>
            <a:pPr marL="0" indent="0">
              <a:buNone/>
            </a:pPr>
            <a:r>
              <a:rPr lang="en-IN" sz="1200" b="1" dirty="0"/>
              <a:t>GROUP BY batsman,bowler_strikeRate</a:t>
            </a:r>
          </a:p>
          <a:p>
            <a:pPr marL="0" indent="0">
              <a:buNone/>
            </a:pPr>
            <a:r>
              <a:rPr lang="en-IN" sz="1200" b="1" dirty="0"/>
              <a:t>HAVING COUNT(ball)&gt;500</a:t>
            </a:r>
          </a:p>
          <a:p>
            <a:pPr marL="0" indent="0">
              <a:buNone/>
            </a:pPr>
            <a:r>
              <a:rPr lang="en-IN" sz="1200" b="1" dirty="0"/>
              <a:t>ORDER BY strike_rate DESC, bowler_strikeRate ASC</a:t>
            </a:r>
          </a:p>
          <a:p>
            <a:pPr marL="0" indent="0">
              <a:buNone/>
            </a:pPr>
            <a:r>
              <a:rPr lang="en-IN" sz="1200" b="1" dirty="0"/>
              <a:t>LIMIT 10;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DD7D178-C199-B9A1-FE2C-92C176AA31EC}"/>
              </a:ext>
            </a:extLst>
          </p:cNvPr>
          <p:cNvSpPr txBox="1">
            <a:spLocks/>
          </p:cNvSpPr>
          <p:nvPr/>
        </p:nvSpPr>
        <p:spPr>
          <a:xfrm>
            <a:off x="357029" y="1013716"/>
            <a:ext cx="1398140" cy="80728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000" b="1" dirty="0"/>
              <a:t>Query</a:t>
            </a:r>
            <a:r>
              <a:rPr lang="en-IN" sz="2000" dirty="0"/>
              <a:t>: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AC46D76-ACB8-9A4E-4E0F-09FA0E4BA13F}"/>
              </a:ext>
            </a:extLst>
          </p:cNvPr>
          <p:cNvSpPr txBox="1">
            <a:spLocks/>
          </p:cNvSpPr>
          <p:nvPr/>
        </p:nvSpPr>
        <p:spPr>
          <a:xfrm>
            <a:off x="7908535" y="1013716"/>
            <a:ext cx="1398140" cy="80728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000" b="1" dirty="0"/>
              <a:t>Result</a:t>
            </a:r>
            <a:r>
              <a:rPr lang="en-IN" sz="2000" dirty="0"/>
              <a:t>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E7A7FB-206A-30F1-1F91-D038CDA08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283" y="1821000"/>
            <a:ext cx="4704980" cy="342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663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71672-8D43-E773-A370-71AC2FBFB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All-rounders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40002C2-2DA9-4FA5-2340-9EA251701E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6460289"/>
              </p:ext>
            </p:extLst>
          </p:nvPr>
        </p:nvGraphicFramePr>
        <p:xfrm>
          <a:off x="1295402" y="2285999"/>
          <a:ext cx="9601198" cy="4001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0BA578AA-408B-E236-4D8F-62B42FBD5A25}"/>
              </a:ext>
            </a:extLst>
          </p:cNvPr>
          <p:cNvSpPr txBox="1">
            <a:spLocks/>
          </p:cNvSpPr>
          <p:nvPr/>
        </p:nvSpPr>
        <p:spPr>
          <a:xfrm>
            <a:off x="4889644" y="5223934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1800" b="1" dirty="0">
                <a:solidFill>
                  <a:schemeClr val="accent3">
                    <a:lumMod val="75000"/>
                  </a:schemeClr>
                </a:solidFill>
              </a:rPr>
              <a:t>High Chances of bidding</a:t>
            </a:r>
          </a:p>
        </p:txBody>
      </p:sp>
    </p:spTree>
    <p:extLst>
      <p:ext uri="{BB962C8B-B14F-4D97-AF65-F5344CB8AC3E}">
        <p14:creationId xmlns:p14="http://schemas.microsoft.com/office/powerpoint/2010/main" val="4248537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87365-BA16-DB9D-B5F5-FD0093DDC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080" y="982132"/>
            <a:ext cx="9601196" cy="1303867"/>
          </a:xfrm>
        </p:spPr>
        <p:txBody>
          <a:bodyPr/>
          <a:lstStyle/>
          <a:p>
            <a:r>
              <a:rPr lang="en-IN" sz="4000" dirty="0"/>
              <a:t>Wicketkeeping Criteria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A7EDD7-BB2E-D978-9899-2EBA01314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693" y="2556932"/>
            <a:ext cx="6625974" cy="331893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0" dirty="0"/>
              <a:t>For a wicketkeeper these things should be kept in mind: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600" b="1" dirty="0"/>
              <a:t>Dismissals per Match:</a:t>
            </a:r>
            <a:r>
              <a:rPr lang="en-US" sz="9600" dirty="0"/>
              <a:t> Average number of dismissals (catches and stumpings) per match.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600" b="1" dirty="0"/>
              <a:t>Stumping Ability:</a:t>
            </a:r>
            <a:r>
              <a:rPr lang="en-US" sz="9600" dirty="0"/>
              <a:t> Speed and efficiency of stumpings, especially against spinners.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600" b="1" dirty="0"/>
              <a:t>Catching Efficiency:</a:t>
            </a:r>
            <a:r>
              <a:rPr lang="en-US" sz="9600" dirty="0"/>
              <a:t> Consistency and reliability in taking catches.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600" b="1" dirty="0"/>
              <a:t>Strike rate</a:t>
            </a:r>
            <a:r>
              <a:rPr lang="en-US" sz="9600" dirty="0"/>
              <a:t>: Strike rate of a wicket keeper  be high in the beginning.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BF7858-CF1C-85B3-41EF-29BF6FDA12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592602" y="2661008"/>
            <a:ext cx="3708970" cy="321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216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080EC-785F-A595-831E-EF13FD74E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072699"/>
          </a:xfrm>
        </p:spPr>
        <p:txBody>
          <a:bodyPr>
            <a:normAutofit fontScale="90000"/>
          </a:bodyPr>
          <a:lstStyle/>
          <a:p>
            <a:r>
              <a:rPr lang="en-US" dirty="0"/>
              <a:t>Additional Questions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13863-3C28-7848-F1B7-AB5809CD5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474739"/>
            <a:ext cx="9601196" cy="3761674"/>
          </a:xfrm>
        </p:spPr>
        <p:txBody>
          <a:bodyPr>
            <a:normAutofit fontScale="25000" lnSpcReduction="20000"/>
          </a:bodyPr>
          <a:lstStyle/>
          <a:p>
            <a:pPr marL="457200" lvl="1" indent="0">
              <a:buNone/>
            </a:pPr>
            <a:r>
              <a:rPr lang="en-US" sz="6400" dirty="0"/>
              <a:t>Q1:</a:t>
            </a:r>
          </a:p>
          <a:p>
            <a:r>
              <a:rPr lang="en-US" sz="6400" dirty="0"/>
              <a:t>SELECT COUNT(DISTINCT city) AS total_cities</a:t>
            </a:r>
          </a:p>
          <a:p>
            <a:r>
              <a:rPr lang="en-US" sz="6400" dirty="0"/>
              <a:t>FROM matches;</a:t>
            </a:r>
          </a:p>
          <a:p>
            <a:pPr marL="0" indent="0">
              <a:buNone/>
            </a:pPr>
            <a:r>
              <a:rPr lang="en-US" sz="6400" dirty="0"/>
              <a:t>Q2:</a:t>
            </a:r>
          </a:p>
          <a:p>
            <a:r>
              <a:rPr lang="en-US" sz="6400" dirty="0"/>
              <a:t>CREATE TABLE deliveries_v02 AS</a:t>
            </a:r>
          </a:p>
          <a:p>
            <a:r>
              <a:rPr lang="en-US" sz="6400" dirty="0"/>
              <a:t>SELECT *, </a:t>
            </a:r>
          </a:p>
          <a:p>
            <a:r>
              <a:rPr lang="en-US" sz="6400" dirty="0"/>
              <a:t>       CASE </a:t>
            </a:r>
          </a:p>
          <a:p>
            <a:r>
              <a:rPr lang="en-US" sz="6400" dirty="0"/>
              <a:t>           WHEN total_runs &gt;= 4 THEN 'boundary'</a:t>
            </a:r>
          </a:p>
          <a:p>
            <a:r>
              <a:rPr lang="en-US" sz="6400" dirty="0"/>
              <a:t>           WHEN total_runs = 0 THEN 'dot'</a:t>
            </a:r>
          </a:p>
          <a:p>
            <a:r>
              <a:rPr lang="en-US" sz="6400" dirty="0"/>
              <a:t>           ELSE 'other'</a:t>
            </a:r>
          </a:p>
          <a:p>
            <a:r>
              <a:rPr lang="en-US" sz="6400" dirty="0"/>
              <a:t>       END AS ball_result</a:t>
            </a:r>
          </a:p>
          <a:p>
            <a:r>
              <a:rPr lang="en-US" sz="6400" dirty="0"/>
              <a:t>FROM deliveries;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78054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0D4E4-3795-B913-845D-0CAB74AFB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1" y="554804"/>
            <a:ext cx="3718455" cy="2321960"/>
          </a:xfrm>
        </p:spPr>
        <p:txBody>
          <a:bodyPr>
            <a:normAutofit/>
          </a:bodyPr>
          <a:lstStyle/>
          <a:p>
            <a:r>
              <a:rPr lang="en-IN" sz="1600" dirty="0"/>
              <a:t>Q3</a:t>
            </a:r>
            <a:br>
              <a:rPr lang="en-IN" sz="1600" dirty="0"/>
            </a:br>
            <a:r>
              <a:rPr lang="en-US" sz="1600" dirty="0"/>
              <a:t>SELECT </a:t>
            </a:r>
            <a:br>
              <a:rPr lang="en-US" sz="1600" dirty="0"/>
            </a:br>
            <a:r>
              <a:rPr lang="en-US" sz="1600" dirty="0"/>
              <a:t>    COUNT(CASE WHEN ball_result = 'boundary' THEN 1 END) AS total_boundaries,</a:t>
            </a:r>
            <a:br>
              <a:rPr lang="en-US" sz="1600" dirty="0"/>
            </a:br>
            <a:r>
              <a:rPr lang="en-US" sz="1600" dirty="0"/>
              <a:t>    COUNT(CASE WHEN ball_result = 'dot' THEN 1 END) AS total_dot_balls</a:t>
            </a:r>
            <a:br>
              <a:rPr lang="en-US" sz="1600" dirty="0"/>
            </a:br>
            <a:r>
              <a:rPr lang="en-US" sz="1600" dirty="0"/>
              <a:t>FROM deliveries_v02;</a:t>
            </a:r>
            <a:br>
              <a:rPr lang="en-US" sz="1600" dirty="0"/>
            </a:br>
            <a:endParaRPr lang="en-IN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56B3E-9096-4A50-E1A6-9864493B9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Q5:</a:t>
            </a:r>
            <a:endParaRPr lang="en-IN" sz="2600" dirty="0"/>
          </a:p>
          <a:p>
            <a:r>
              <a:rPr lang="en-US" sz="2600" dirty="0"/>
              <a:t>SELECT </a:t>
            </a:r>
          </a:p>
          <a:p>
            <a:r>
              <a:rPr lang="en-US" sz="2600" dirty="0"/>
              <a:t>    bowling_team, </a:t>
            </a:r>
          </a:p>
          <a:p>
            <a:r>
              <a:rPr lang="en-US" sz="2600" dirty="0"/>
              <a:t>    COUNT(*) AS total_dot_balls</a:t>
            </a:r>
          </a:p>
          <a:p>
            <a:r>
              <a:rPr lang="en-US" sz="2600" dirty="0"/>
              <a:t>FROM deliveries_v02</a:t>
            </a:r>
          </a:p>
          <a:p>
            <a:r>
              <a:rPr lang="en-US" sz="2600" dirty="0"/>
              <a:t>WHERE ball_result = 'dot'</a:t>
            </a:r>
          </a:p>
          <a:p>
            <a:r>
              <a:rPr lang="en-US" sz="2600" dirty="0"/>
              <a:t>GROUP BY bowling_team</a:t>
            </a:r>
          </a:p>
          <a:p>
            <a:r>
              <a:rPr lang="en-US" sz="2600" dirty="0"/>
              <a:t>ORDER BY total_dot_balls DESC;</a:t>
            </a:r>
          </a:p>
          <a:p>
            <a:pPr marL="0" indent="0">
              <a:buNone/>
            </a:pPr>
            <a:r>
              <a:rPr lang="en-IN" sz="2600" dirty="0"/>
              <a:t>Q6:</a:t>
            </a:r>
          </a:p>
          <a:p>
            <a:r>
              <a:rPr lang="en-US" sz="2600" dirty="0"/>
              <a:t>SELECT </a:t>
            </a:r>
          </a:p>
          <a:p>
            <a:r>
              <a:rPr lang="en-US" sz="2600" dirty="0"/>
              <a:t>    dismissal_kind, </a:t>
            </a:r>
          </a:p>
          <a:p>
            <a:r>
              <a:rPr lang="en-US" sz="2600" dirty="0"/>
              <a:t>    COUNT(*) AS total_dismissals</a:t>
            </a:r>
          </a:p>
          <a:p>
            <a:r>
              <a:rPr lang="en-US" sz="2600" dirty="0"/>
              <a:t>FROM deliveries</a:t>
            </a:r>
          </a:p>
          <a:p>
            <a:r>
              <a:rPr lang="en-US" sz="2600" dirty="0"/>
              <a:t>WHERE dismissal_kind IS NOT NULL</a:t>
            </a:r>
          </a:p>
          <a:p>
            <a:r>
              <a:rPr lang="en-US" sz="2600" dirty="0"/>
              <a:t>GROUP BY dismissal_kind;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E65D69-5456-66D2-89F8-720CA5D7B2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0288" y="2876764"/>
            <a:ext cx="4658380" cy="3308279"/>
          </a:xfrm>
        </p:spPr>
        <p:txBody>
          <a:bodyPr/>
          <a:lstStyle/>
          <a:p>
            <a:r>
              <a:rPr lang="en-IN" dirty="0"/>
              <a:t>Q4</a:t>
            </a:r>
          </a:p>
          <a:p>
            <a:r>
              <a:rPr lang="en-US" dirty="0"/>
              <a:t>SELECT </a:t>
            </a:r>
          </a:p>
          <a:p>
            <a:r>
              <a:rPr lang="en-US" dirty="0"/>
              <a:t>    batting_team, </a:t>
            </a:r>
          </a:p>
          <a:p>
            <a:r>
              <a:rPr lang="en-US" dirty="0"/>
              <a:t>    COUNT(*) AS total_boundaries</a:t>
            </a:r>
          </a:p>
          <a:p>
            <a:r>
              <a:rPr lang="en-US" dirty="0"/>
              <a:t>FROM deliveries_v02</a:t>
            </a:r>
          </a:p>
          <a:p>
            <a:r>
              <a:rPr lang="en-US" dirty="0"/>
              <a:t>WHERE ball_result = 'boundary'</a:t>
            </a:r>
          </a:p>
          <a:p>
            <a:r>
              <a:rPr lang="en-US" dirty="0"/>
              <a:t>GROUP BY batting_team</a:t>
            </a:r>
          </a:p>
          <a:p>
            <a:r>
              <a:rPr lang="en-US" dirty="0"/>
              <a:t>ORDER BY total_boundaries DESC;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04900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D0D21-1A29-7766-B300-11C373EE7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901" y="592661"/>
            <a:ext cx="4822767" cy="2438403"/>
          </a:xfrm>
        </p:spPr>
        <p:txBody>
          <a:bodyPr>
            <a:normAutofit fontScale="90000"/>
          </a:bodyPr>
          <a:lstStyle/>
          <a:p>
            <a:r>
              <a:rPr lang="en-IN" sz="1800" dirty="0"/>
              <a:t>Q7 </a:t>
            </a:r>
            <a:br>
              <a:rPr lang="en-IN" sz="1800" dirty="0"/>
            </a:br>
            <a:r>
              <a:rPr lang="en-US" sz="1800" dirty="0"/>
              <a:t>SELECT </a:t>
            </a:r>
            <a:br>
              <a:rPr lang="en-US" sz="1800" dirty="0"/>
            </a:br>
            <a:r>
              <a:rPr lang="en-US" sz="1800" dirty="0"/>
              <a:t>    bowler, </a:t>
            </a:r>
            <a:br>
              <a:rPr lang="en-US" sz="1800" dirty="0"/>
            </a:br>
            <a:r>
              <a:rPr lang="en-US" sz="1800" dirty="0"/>
              <a:t>    SUM(extra_runs) AS total_extra_runs</a:t>
            </a:r>
            <a:br>
              <a:rPr lang="en-US" sz="1800" dirty="0"/>
            </a:br>
            <a:r>
              <a:rPr lang="en-US" sz="1800" dirty="0"/>
              <a:t>FROM deliveries</a:t>
            </a:r>
            <a:br>
              <a:rPr lang="en-US" sz="1800" dirty="0"/>
            </a:br>
            <a:r>
              <a:rPr lang="en-US" sz="1800" dirty="0"/>
              <a:t>GROUP BY bowler</a:t>
            </a:r>
            <a:br>
              <a:rPr lang="en-US" sz="1800" dirty="0"/>
            </a:br>
            <a:r>
              <a:rPr lang="en-US" sz="1800" dirty="0"/>
              <a:t>ORDER BY total_extra_runs DESC</a:t>
            </a:r>
            <a:br>
              <a:rPr lang="en-US" sz="1800" dirty="0"/>
            </a:br>
            <a:r>
              <a:rPr lang="en-US" sz="1800" dirty="0"/>
              <a:t>LIMIT 5;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F07FF-ED36-8900-93EA-2A446CCFE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2600" dirty="0"/>
              <a:t>Q9:</a:t>
            </a:r>
          </a:p>
          <a:p>
            <a:r>
              <a:rPr lang="en-US" sz="2600" dirty="0"/>
              <a:t>SELECT </a:t>
            </a:r>
          </a:p>
          <a:p>
            <a:r>
              <a:rPr lang="en-US" sz="2600" dirty="0"/>
              <a:t>    venue, </a:t>
            </a:r>
          </a:p>
          <a:p>
            <a:r>
              <a:rPr lang="en-US" sz="2600" dirty="0"/>
              <a:t>    SUM(total_runs) AS total_runs</a:t>
            </a:r>
          </a:p>
          <a:p>
            <a:r>
              <a:rPr lang="en-US" sz="2600" dirty="0"/>
              <a:t>FROM deliveries_v03</a:t>
            </a:r>
          </a:p>
          <a:p>
            <a:r>
              <a:rPr lang="en-US" sz="2600" dirty="0"/>
              <a:t>GROUP BY venue</a:t>
            </a:r>
          </a:p>
          <a:p>
            <a:r>
              <a:rPr lang="en-US" sz="2600" dirty="0"/>
              <a:t>ORDER BY total_runs DESC;</a:t>
            </a:r>
          </a:p>
          <a:p>
            <a:pPr marL="0" indent="0">
              <a:buNone/>
            </a:pPr>
            <a:r>
              <a:rPr lang="en-IN" sz="2600" dirty="0"/>
              <a:t>Q10:</a:t>
            </a:r>
          </a:p>
          <a:p>
            <a:r>
              <a:rPr lang="en-US" sz="2600" dirty="0"/>
              <a:t>SELECT </a:t>
            </a:r>
          </a:p>
          <a:p>
            <a:r>
              <a:rPr lang="en-US" sz="2600" dirty="0"/>
              <a:t>    YEAR(match_date) AS year, </a:t>
            </a:r>
          </a:p>
          <a:p>
            <a:r>
              <a:rPr lang="en-US" sz="2600" dirty="0"/>
              <a:t>    SUM(total_runs) AS total_runs</a:t>
            </a:r>
          </a:p>
          <a:p>
            <a:r>
              <a:rPr lang="en-US" sz="2600" dirty="0"/>
              <a:t>FROM deliveries_v03</a:t>
            </a:r>
          </a:p>
          <a:p>
            <a:r>
              <a:rPr lang="en-US" sz="2600" dirty="0"/>
              <a:t>WHERE venue = 'Eden Gardens'</a:t>
            </a:r>
          </a:p>
          <a:p>
            <a:r>
              <a:rPr lang="en-US" sz="2600" dirty="0"/>
              <a:t>GROUP BY YEAR(match_date)</a:t>
            </a:r>
          </a:p>
          <a:p>
            <a:r>
              <a:rPr lang="en-US" sz="2600" dirty="0"/>
              <a:t>ORDER BY total_runs DESC;</a:t>
            </a:r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2DE1D-0401-FCA1-EF24-B1603BE2F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5901" y="3031065"/>
            <a:ext cx="4822767" cy="3308090"/>
          </a:xfrm>
        </p:spPr>
        <p:txBody>
          <a:bodyPr/>
          <a:lstStyle/>
          <a:p>
            <a:r>
              <a:rPr lang="en-IN" dirty="0"/>
              <a:t>Q8</a:t>
            </a:r>
          </a:p>
          <a:p>
            <a:r>
              <a:rPr lang="en-US" dirty="0"/>
              <a:t>CREATE TABLE deliveries_v03 AS</a:t>
            </a:r>
          </a:p>
          <a:p>
            <a:r>
              <a:rPr lang="en-US" dirty="0"/>
              <a:t>SELECT d.*, </a:t>
            </a:r>
          </a:p>
          <a:p>
            <a:r>
              <a:rPr lang="en-US" dirty="0"/>
              <a:t>       m.venue, </a:t>
            </a:r>
          </a:p>
          <a:p>
            <a:r>
              <a:rPr lang="en-US" dirty="0"/>
              <a:t>       m.date AS match_date</a:t>
            </a:r>
          </a:p>
          <a:p>
            <a:r>
              <a:rPr lang="en-US" dirty="0"/>
              <a:t>FROM deliveries_v02 d</a:t>
            </a:r>
          </a:p>
          <a:p>
            <a:r>
              <a:rPr lang="en-US" dirty="0"/>
              <a:t>JOIN matches m ON d.match_id = m.id;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21198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917</TotalTime>
  <Words>1282</Words>
  <Application>Microsoft Office PowerPoint</Application>
  <PresentationFormat>Widescreen</PresentationFormat>
  <Paragraphs>195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Algerian</vt:lpstr>
      <vt:lpstr>Arial</vt:lpstr>
      <vt:lpstr>Garamond</vt:lpstr>
      <vt:lpstr>Organic</vt:lpstr>
      <vt:lpstr>Final Project-SQL</vt:lpstr>
      <vt:lpstr>Create a table and restore data in it</vt:lpstr>
      <vt:lpstr>Create ipl_ball table:</vt:lpstr>
      <vt:lpstr>Bowler</vt:lpstr>
      <vt:lpstr>Batsman</vt:lpstr>
      <vt:lpstr>High Strike Rate</vt:lpstr>
      <vt:lpstr>High Strike Rate Batsman</vt:lpstr>
      <vt:lpstr>Good Average</vt:lpstr>
      <vt:lpstr>Good Average Batsman</vt:lpstr>
      <vt:lpstr>Hard Hitters</vt:lpstr>
      <vt:lpstr>Hard Hitter Batsman</vt:lpstr>
      <vt:lpstr>Good Economy Bowlers</vt:lpstr>
      <vt:lpstr>Good Economy Bowlers</vt:lpstr>
      <vt:lpstr>Good Bowler Strike Rate</vt:lpstr>
      <vt:lpstr>Good Strike Rate Bowlers</vt:lpstr>
      <vt:lpstr>All rounder </vt:lpstr>
      <vt:lpstr>All-rounders</vt:lpstr>
      <vt:lpstr>Wicketkeeping Criteria</vt:lpstr>
      <vt:lpstr>Additional Questions </vt:lpstr>
      <vt:lpstr>Q3 SELECT      COUNT(CASE WHEN ball_result = 'boundary' THEN 1 END) AS total_boundaries,     COUNT(CASE WHEN ball_result = 'dot' THEN 1 END) AS total_dot_balls FROM deliveries_v02; </vt:lpstr>
      <vt:lpstr>Q7  SELECT      bowler,      SUM(extra_runs) AS total_extra_runs FROM deliveries GROUP BY bowler ORDER BY total_extra_runs DESC LIMIT 5;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SEHAJ KUMAR</dc:creator>
  <cp:lastModifiedBy>SEHAJ KUMAR</cp:lastModifiedBy>
  <cp:revision>2</cp:revision>
  <dcterms:created xsi:type="dcterms:W3CDTF">2024-06-18T18:06:17Z</dcterms:created>
  <dcterms:modified xsi:type="dcterms:W3CDTF">2024-06-19T10:13:55Z</dcterms:modified>
</cp:coreProperties>
</file>